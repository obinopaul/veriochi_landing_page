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  <p:sldMasterId id="2147483704" r:id="rId5"/>
  </p:sldMasterIdLst>
  <p:notesMasterIdLst>
    <p:notesMasterId r:id="rId20"/>
  </p:notesMasterIdLst>
  <p:handoutMasterIdLst>
    <p:handoutMasterId r:id="rId21"/>
  </p:handoutMasterIdLst>
  <p:sldIdLst>
    <p:sldId id="300" r:id="rId6"/>
    <p:sldId id="257" r:id="rId7"/>
    <p:sldId id="299" r:id="rId8"/>
    <p:sldId id="297" r:id="rId9"/>
    <p:sldId id="261" r:id="rId10"/>
    <p:sldId id="259" r:id="rId11"/>
    <p:sldId id="289" r:id="rId12"/>
    <p:sldId id="266" r:id="rId13"/>
    <p:sldId id="292" r:id="rId14"/>
    <p:sldId id="280" r:id="rId15"/>
    <p:sldId id="298" r:id="rId16"/>
    <p:sldId id="294" r:id="rId17"/>
    <p:sldId id="282" r:id="rId18"/>
    <p:sldId id="27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9" autoAdjust="0"/>
  </p:normalViewPr>
  <p:slideViewPr>
    <p:cSldViewPr snapToGrid="0">
      <p:cViewPr varScale="1">
        <p:scale>
          <a:sx n="75" d="100"/>
          <a:sy n="75" d="100"/>
        </p:scale>
        <p:origin x="902" y="48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commentAuthors" Target="commentAuthor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11/30/2025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B495A4C6-232E-4A1A-B575-7EF7F414F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>
            <a:lvl1pPr algn="l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B4C6F7E-40F0-42B1-AFE0-D3C95660E0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2517" y="1599947"/>
            <a:ext cx="1706965" cy="4920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42EE46E3-709F-4AE9-AECE-FD647B6DCF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38732" y="2378452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3194FB4F-01AC-4A0E-BBE2-CF2B69F6FAC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22269" y="2169263"/>
            <a:ext cx="1706965" cy="10485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8E76F955-6B23-4972-8E86-603F19ECF6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1894" y="3528829"/>
            <a:ext cx="1393863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DDA77547-4FF4-4B15-96F1-DC9B00175B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40449" y="3528829"/>
            <a:ext cx="1380681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6E6B6915-DFCC-44EB-9C61-6B7725D1B7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7747" y="4634331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6718CC56-7B04-41D0-A320-CCCDC20D76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75224" y="4459860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778E1C09-B7DB-4CE7-A5B9-90BCF54448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52714" y="4321788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7CFA026C-42CE-4C20-9DDE-417FDF6CB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17" y="5468790"/>
            <a:ext cx="1706965" cy="4920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0AFAA95F-1461-496C-BAB4-D5D0594554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01857" y="5195673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D194B4E-75F4-47BE-B171-9C64697AB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7" idx="1"/>
          </p:cNvCxnSpPr>
          <p:nvPr userDrawn="1"/>
        </p:nvCxnSpPr>
        <p:spPr>
          <a:xfrm>
            <a:off x="2315757" y="3774842"/>
            <a:ext cx="7624692" cy="0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EFDA35F-76DF-4FDC-90C9-F9FEDF322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091972"/>
            <a:ext cx="4678" cy="3376818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Date Placeholder 2">
            <a:extLst>
              <a:ext uri="{FF2B5EF4-FFF2-40B4-BE49-F238E27FC236}">
                <a16:creationId xmlns:a16="http://schemas.microsoft.com/office/drawing/2014/main" id="{B8C04945-62C9-4964-8891-6D30EA90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32" name="Footer Placeholder 3">
            <a:extLst>
              <a:ext uri="{FF2B5EF4-FFF2-40B4-BE49-F238E27FC236}">
                <a16:creationId xmlns:a16="http://schemas.microsoft.com/office/drawing/2014/main" id="{51029B8B-F669-4889-98DD-90166117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33" name="Slide Number Placeholder 4">
            <a:extLst>
              <a:ext uri="{FF2B5EF4-FFF2-40B4-BE49-F238E27FC236}">
                <a16:creationId xmlns:a16="http://schemas.microsoft.com/office/drawing/2014/main" id="{7A0B84D6-438D-4B3B-B52C-6F5EC159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250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69678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36373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47981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FBFBF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08221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5186" y="352716"/>
            <a:ext cx="7710593" cy="615553"/>
          </a:xfrm>
        </p:spPr>
        <p:txBody>
          <a:bodyPr lIns="0" tIns="0" rIns="0" bIns="0"/>
          <a:lstStyle>
            <a:lvl1pPr>
              <a:defRPr sz="4000" b="0" i="0">
                <a:solidFill>
                  <a:srgbClr val="FBFBF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515609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5186" y="352716"/>
            <a:ext cx="7710593" cy="615553"/>
          </a:xfrm>
        </p:spPr>
        <p:txBody>
          <a:bodyPr lIns="0" tIns="0" rIns="0" bIns="0"/>
          <a:lstStyle>
            <a:lvl1pPr>
              <a:defRPr sz="4000" b="0" i="0">
                <a:solidFill>
                  <a:srgbClr val="FBFBF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23028" y="2163070"/>
            <a:ext cx="4010237" cy="323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13343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044118" y="2163070"/>
            <a:ext cx="3053079" cy="323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13343A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849631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5186" y="352716"/>
            <a:ext cx="7710593" cy="615553"/>
          </a:xfrm>
        </p:spPr>
        <p:txBody>
          <a:bodyPr lIns="0" tIns="0" rIns="0" bIns="0"/>
          <a:lstStyle>
            <a:lvl1pPr>
              <a:defRPr sz="4000" b="0" i="0">
                <a:solidFill>
                  <a:srgbClr val="FBFBF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02375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212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7" Type="http://schemas.openxmlformats.org/officeDocument/2006/relationships/image" Target="../media/image27.png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685" r:id="rId12"/>
    <p:sldLayoutId id="2147483700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  <p:sldLayoutId id="2147483702" r:id="rId21"/>
    <p:sldLayoutId id="2147483703" r:id="rId2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5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5186" y="352716"/>
            <a:ext cx="7710593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FBFBF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2148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04815">
        <a:defRPr>
          <a:latin typeface="+mn-lt"/>
          <a:ea typeface="+mn-ea"/>
          <a:cs typeface="+mn-cs"/>
        </a:defRPr>
      </a:lvl2pPr>
      <a:lvl3pPr marL="609630">
        <a:defRPr>
          <a:latin typeface="+mn-lt"/>
          <a:ea typeface="+mn-ea"/>
          <a:cs typeface="+mn-cs"/>
        </a:defRPr>
      </a:lvl3pPr>
      <a:lvl4pPr marL="914446">
        <a:defRPr>
          <a:latin typeface="+mn-lt"/>
          <a:ea typeface="+mn-ea"/>
          <a:cs typeface="+mn-cs"/>
        </a:defRPr>
      </a:lvl4pPr>
      <a:lvl5pPr marL="1219261">
        <a:defRPr>
          <a:latin typeface="+mn-lt"/>
          <a:ea typeface="+mn-ea"/>
          <a:cs typeface="+mn-cs"/>
        </a:defRPr>
      </a:lvl5pPr>
      <a:lvl6pPr marL="1524076">
        <a:defRPr>
          <a:latin typeface="+mn-lt"/>
          <a:ea typeface="+mn-ea"/>
          <a:cs typeface="+mn-cs"/>
        </a:defRPr>
      </a:lvl6pPr>
      <a:lvl7pPr marL="1828891">
        <a:defRPr>
          <a:latin typeface="+mn-lt"/>
          <a:ea typeface="+mn-ea"/>
          <a:cs typeface="+mn-cs"/>
        </a:defRPr>
      </a:lvl7pPr>
      <a:lvl8pPr marL="2133707">
        <a:defRPr>
          <a:latin typeface="+mn-lt"/>
          <a:ea typeface="+mn-ea"/>
          <a:cs typeface="+mn-cs"/>
        </a:defRPr>
      </a:lvl8pPr>
      <a:lvl9pPr marL="243852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04815">
        <a:defRPr>
          <a:latin typeface="+mn-lt"/>
          <a:ea typeface="+mn-ea"/>
          <a:cs typeface="+mn-cs"/>
        </a:defRPr>
      </a:lvl2pPr>
      <a:lvl3pPr marL="609630">
        <a:defRPr>
          <a:latin typeface="+mn-lt"/>
          <a:ea typeface="+mn-ea"/>
          <a:cs typeface="+mn-cs"/>
        </a:defRPr>
      </a:lvl3pPr>
      <a:lvl4pPr marL="914446">
        <a:defRPr>
          <a:latin typeface="+mn-lt"/>
          <a:ea typeface="+mn-ea"/>
          <a:cs typeface="+mn-cs"/>
        </a:defRPr>
      </a:lvl4pPr>
      <a:lvl5pPr marL="1219261">
        <a:defRPr>
          <a:latin typeface="+mn-lt"/>
          <a:ea typeface="+mn-ea"/>
          <a:cs typeface="+mn-cs"/>
        </a:defRPr>
      </a:lvl5pPr>
      <a:lvl6pPr marL="1524076">
        <a:defRPr>
          <a:latin typeface="+mn-lt"/>
          <a:ea typeface="+mn-ea"/>
          <a:cs typeface="+mn-cs"/>
        </a:defRPr>
      </a:lvl6pPr>
      <a:lvl7pPr marL="1828891">
        <a:defRPr>
          <a:latin typeface="+mn-lt"/>
          <a:ea typeface="+mn-ea"/>
          <a:cs typeface="+mn-cs"/>
        </a:defRPr>
      </a:lvl7pPr>
      <a:lvl8pPr marL="2133707">
        <a:defRPr>
          <a:latin typeface="+mn-lt"/>
          <a:ea typeface="+mn-ea"/>
          <a:cs typeface="+mn-cs"/>
        </a:defRPr>
      </a:lvl8pPr>
      <a:lvl9pPr marL="243852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3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7" Type="http://schemas.openxmlformats.org/officeDocument/2006/relationships/image" Target="../media/image40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079EC-5D6B-D56A-7D59-7C4734B41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C2DE1-D8FD-0BBA-14E9-5FCC6DB9D0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9589C-9CAD-D5E4-127D-E9720AD49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60342-D3A5-FF17-DE92-34059DD76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692CEFDD-CD04-B04D-EA2C-F9A27B36C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112" y="2036138"/>
            <a:ext cx="1988372" cy="15708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659F134-8E17-8EAD-A044-D8289833A40B}"/>
              </a:ext>
            </a:extLst>
          </p:cNvPr>
          <p:cNvSpPr txBox="1"/>
          <p:nvPr/>
        </p:nvSpPr>
        <p:spPr>
          <a:xfrm>
            <a:off x="5103484" y="2414285"/>
            <a:ext cx="70132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n w="0">
                  <a:solidFill>
                    <a:schemeClr val="tx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adley Hand ITC" panose="03070402050302030203" pitchFamily="66" charset="0"/>
              </a:rPr>
              <a:t>VERIOCHI</a:t>
            </a:r>
          </a:p>
        </p:txBody>
      </p:sp>
      <p:sp>
        <p:nvSpPr>
          <p:cNvPr id="14" name="object 5">
            <a:extLst>
              <a:ext uri="{FF2B5EF4-FFF2-40B4-BE49-F238E27FC236}">
                <a16:creationId xmlns:a16="http://schemas.microsoft.com/office/drawing/2014/main" id="{C1AE14BA-819F-DB22-2DCB-57BE3E61B66C}"/>
              </a:ext>
            </a:extLst>
          </p:cNvPr>
          <p:cNvSpPr txBox="1">
            <a:spLocks noGrp="1"/>
          </p:cNvSpPr>
          <p:nvPr/>
        </p:nvSpPr>
        <p:spPr>
          <a:xfrm>
            <a:off x="1476642" y="5771048"/>
            <a:ext cx="4102742" cy="448841"/>
          </a:xfrm>
          <a:prstGeom prst="rect">
            <a:avLst/>
          </a:prstGeom>
          <a:ln>
            <a:noFill/>
          </a:ln>
        </p:spPr>
        <p:txBody>
          <a:bodyPr vert="horz" wrap="square" lIns="0" tIns="17780" rIns="0" bIns="0" rtlCol="0">
            <a:spAutoFit/>
          </a:bodyPr>
          <a:lstStyle>
            <a:lvl1pPr>
              <a:defRPr sz="5400" b="1" i="0">
                <a:solidFill>
                  <a:srgbClr val="818BF7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lang="en-US" sz="2800" b="0" spc="-240" dirty="0">
                <a:solidFill>
                  <a:srgbClr val="94A2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www.veriochi.com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8B29239-894B-F80E-74F5-A2412E3260DA}"/>
              </a:ext>
            </a:extLst>
          </p:cNvPr>
          <p:cNvSpPr txBox="1">
            <a:spLocks/>
          </p:cNvSpPr>
          <p:nvPr/>
        </p:nvSpPr>
        <p:spPr>
          <a:xfrm>
            <a:off x="9548785" y="5939997"/>
            <a:ext cx="2333496" cy="6463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Pitch deck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C85D49A2-6E0C-38CD-F505-D5EE03761E75}"/>
              </a:ext>
            </a:extLst>
          </p:cNvPr>
          <p:cNvSpPr txBox="1">
            <a:spLocks/>
          </p:cNvSpPr>
          <p:nvPr/>
        </p:nvSpPr>
        <p:spPr>
          <a:xfrm>
            <a:off x="9916527" y="6387998"/>
            <a:ext cx="1747153" cy="39666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Paul Okafor</a:t>
            </a:r>
          </a:p>
        </p:txBody>
      </p:sp>
      <p:sp>
        <p:nvSpPr>
          <p:cNvPr id="19" name="object 5">
            <a:extLst>
              <a:ext uri="{FF2B5EF4-FFF2-40B4-BE49-F238E27FC236}">
                <a16:creationId xmlns:a16="http://schemas.microsoft.com/office/drawing/2014/main" id="{9F5D9C81-DA73-A7B7-6FBC-3AACFF807B53}"/>
              </a:ext>
            </a:extLst>
          </p:cNvPr>
          <p:cNvSpPr txBox="1">
            <a:spLocks/>
          </p:cNvSpPr>
          <p:nvPr/>
        </p:nvSpPr>
        <p:spPr>
          <a:xfrm>
            <a:off x="5707379" y="3468484"/>
            <a:ext cx="5646420" cy="435609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>
            <a:lvl1pPr>
              <a:defRPr sz="5400" b="1" i="0">
                <a:solidFill>
                  <a:srgbClr val="818BF7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40"/>
              </a:spcBef>
            </a:pPr>
            <a:r>
              <a:rPr lang="en-US" sz="2650" b="0" kern="0" spc="-240" dirty="0">
                <a:solidFill>
                  <a:srgbClr val="94A2B8"/>
                </a:solidFill>
                <a:latin typeface="Lucida Sans Unicode"/>
                <a:cs typeface="Lucida Sans Unicode"/>
              </a:rPr>
              <a:t>Your</a:t>
            </a:r>
            <a:r>
              <a:rPr lang="en-US" sz="2650" b="0" kern="0" spc="-375" dirty="0">
                <a:solidFill>
                  <a:srgbClr val="94A2B8"/>
                </a:solidFill>
                <a:latin typeface="Lucida Sans Unicode"/>
                <a:cs typeface="Lucida Sans Unicode"/>
              </a:rPr>
              <a:t> </a:t>
            </a:r>
            <a:r>
              <a:rPr lang="en-US" sz="2650" b="0" kern="0" spc="-150" dirty="0">
                <a:solidFill>
                  <a:srgbClr val="94A2B8"/>
                </a:solidFill>
                <a:latin typeface="Lucida Sans Unicode"/>
                <a:cs typeface="Lucida Sans Unicode"/>
              </a:rPr>
              <a:t>AI.</a:t>
            </a:r>
            <a:r>
              <a:rPr lang="en-US" sz="2650" b="0" kern="0" spc="-365" dirty="0">
                <a:solidFill>
                  <a:srgbClr val="94A2B8"/>
                </a:solidFill>
                <a:latin typeface="Lucida Sans Unicode"/>
                <a:cs typeface="Lucida Sans Unicode"/>
              </a:rPr>
              <a:t> </a:t>
            </a:r>
            <a:r>
              <a:rPr lang="en-US" sz="2650" b="0" kern="0" spc="-240" dirty="0">
                <a:solidFill>
                  <a:srgbClr val="94A2B8"/>
                </a:solidFill>
                <a:latin typeface="Lucida Sans Unicode"/>
                <a:cs typeface="Lucida Sans Unicode"/>
              </a:rPr>
              <a:t>Your</a:t>
            </a:r>
            <a:r>
              <a:rPr lang="en-US" sz="2650" b="0" kern="0" spc="-375" dirty="0">
                <a:solidFill>
                  <a:srgbClr val="94A2B8"/>
                </a:solidFill>
                <a:latin typeface="Lucida Sans Unicode"/>
                <a:cs typeface="Lucida Sans Unicode"/>
              </a:rPr>
              <a:t> </a:t>
            </a:r>
            <a:r>
              <a:rPr lang="en-US" sz="2650" b="0" kern="0" spc="-95" dirty="0">
                <a:solidFill>
                  <a:srgbClr val="94A2B8"/>
                </a:solidFill>
                <a:latin typeface="Lucida Sans Unicode"/>
                <a:cs typeface="Lucida Sans Unicode"/>
              </a:rPr>
              <a:t>Studios.</a:t>
            </a:r>
            <a:r>
              <a:rPr lang="en-US" sz="2650" b="0" kern="0" spc="-365" dirty="0">
                <a:solidFill>
                  <a:srgbClr val="94A2B8"/>
                </a:solidFill>
                <a:latin typeface="Lucida Sans Unicode"/>
                <a:cs typeface="Lucida Sans Unicode"/>
              </a:rPr>
              <a:t> </a:t>
            </a:r>
            <a:r>
              <a:rPr lang="en-US" sz="2650" kern="0" spc="-125" dirty="0">
                <a:latin typeface="Tahoma"/>
                <a:cs typeface="Tahoma"/>
              </a:rPr>
              <a:t>One</a:t>
            </a:r>
            <a:r>
              <a:rPr lang="en-US" sz="2650" kern="0" spc="-265" dirty="0">
                <a:latin typeface="Tahoma"/>
                <a:cs typeface="Tahoma"/>
              </a:rPr>
              <a:t> </a:t>
            </a:r>
            <a:r>
              <a:rPr lang="en-US" sz="2650" kern="0" spc="-125" dirty="0">
                <a:latin typeface="Tahoma"/>
                <a:cs typeface="Tahoma"/>
              </a:rPr>
              <a:t>Workspace.</a:t>
            </a:r>
            <a:endParaRPr lang="en-US" sz="2650" kern="0" dirty="0">
              <a:latin typeface="Tahoma"/>
              <a:cs typeface="Tahoma"/>
            </a:endParaRPr>
          </a:p>
        </p:txBody>
      </p:sp>
      <p:sp>
        <p:nvSpPr>
          <p:cNvPr id="20" name="object 4">
            <a:extLst>
              <a:ext uri="{FF2B5EF4-FFF2-40B4-BE49-F238E27FC236}">
                <a16:creationId xmlns:a16="http://schemas.microsoft.com/office/drawing/2014/main" id="{7B037452-8F38-F163-4E98-34FB971883EE}"/>
              </a:ext>
            </a:extLst>
          </p:cNvPr>
          <p:cNvSpPr txBox="1"/>
          <p:nvPr/>
        </p:nvSpPr>
        <p:spPr>
          <a:xfrm>
            <a:off x="9177237" y="271672"/>
            <a:ext cx="2844030" cy="285549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7697">
              <a:spcBef>
                <a:spcPts val="67"/>
              </a:spcBef>
              <a:tabLst>
                <a:tab pos="1427496" algn="l"/>
                <a:tab pos="1566435" algn="l"/>
              </a:tabLst>
            </a:pPr>
            <a:r>
              <a:rPr lang="en-US" spc="-6" dirty="0">
                <a:solidFill>
                  <a:srgbClr val="535353"/>
                </a:solidFill>
                <a:latin typeface="Tahoma"/>
                <a:cs typeface="Tahoma"/>
              </a:rPr>
              <a:t>https://www.veriochi</a:t>
            </a:r>
            <a:r>
              <a:rPr spc="-6" dirty="0">
                <a:solidFill>
                  <a:srgbClr val="535353"/>
                </a:solidFill>
                <a:latin typeface="Tahoma"/>
                <a:cs typeface="Tahoma"/>
              </a:rPr>
              <a:t>.</a:t>
            </a:r>
            <a:r>
              <a:rPr lang="en-US" spc="-6" dirty="0">
                <a:solidFill>
                  <a:srgbClr val="535353"/>
                </a:solidFill>
                <a:latin typeface="Tahoma"/>
                <a:cs typeface="Tahoma"/>
              </a:rPr>
              <a:t>com</a:t>
            </a:r>
            <a:r>
              <a:rPr dirty="0">
                <a:solidFill>
                  <a:srgbClr val="535353"/>
                </a:solidFill>
                <a:latin typeface="Tahoma"/>
                <a:cs typeface="Tahoma"/>
              </a:rPr>
              <a:t>	</a:t>
            </a:r>
            <a:endParaRPr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522109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9" y="5422300"/>
            <a:ext cx="1263510" cy="143494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18176" y="1212716"/>
            <a:ext cx="6349298" cy="4431810"/>
          </a:xfrm>
          <a:prstGeom prst="rect">
            <a:avLst/>
          </a:prstGeom>
        </p:spPr>
      </p:pic>
      <p:sp>
        <p:nvSpPr>
          <p:cNvPr id="6" name="object 4">
            <a:extLst>
              <a:ext uri="{FF2B5EF4-FFF2-40B4-BE49-F238E27FC236}">
                <a16:creationId xmlns:a16="http://schemas.microsoft.com/office/drawing/2014/main" id="{70CF05DC-732F-0E91-C15A-18BC447D56FF}"/>
              </a:ext>
            </a:extLst>
          </p:cNvPr>
          <p:cNvSpPr txBox="1"/>
          <p:nvPr/>
        </p:nvSpPr>
        <p:spPr>
          <a:xfrm>
            <a:off x="9177237" y="271672"/>
            <a:ext cx="2844030" cy="285549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7697">
              <a:spcBef>
                <a:spcPts val="67"/>
              </a:spcBef>
              <a:tabLst>
                <a:tab pos="1427496" algn="l"/>
                <a:tab pos="1566435" algn="l"/>
              </a:tabLst>
            </a:pPr>
            <a:r>
              <a:rPr lang="en-US" spc="-6" dirty="0">
                <a:solidFill>
                  <a:srgbClr val="535353"/>
                </a:solidFill>
                <a:latin typeface="Tahoma"/>
                <a:cs typeface="Tahoma"/>
              </a:rPr>
              <a:t>https://www.veriochi</a:t>
            </a:r>
            <a:r>
              <a:rPr spc="-6" dirty="0">
                <a:solidFill>
                  <a:srgbClr val="535353"/>
                </a:solidFill>
                <a:latin typeface="Tahoma"/>
                <a:cs typeface="Tahoma"/>
              </a:rPr>
              <a:t>.</a:t>
            </a:r>
            <a:r>
              <a:rPr lang="en-US" spc="-6" dirty="0">
                <a:solidFill>
                  <a:srgbClr val="535353"/>
                </a:solidFill>
                <a:latin typeface="Tahoma"/>
                <a:cs typeface="Tahoma"/>
              </a:rPr>
              <a:t>com</a:t>
            </a:r>
            <a:r>
              <a:rPr dirty="0">
                <a:solidFill>
                  <a:srgbClr val="535353"/>
                </a:solidFill>
                <a:latin typeface="Tahoma"/>
                <a:cs typeface="Tahoma"/>
              </a:rPr>
              <a:t>	</a:t>
            </a:r>
            <a:endParaRPr dirty="0">
              <a:latin typeface="Tahoma"/>
              <a:cs typeface="Tahoma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9DE2AEE-BB5B-4CFA-1C4C-FD3C279CC2E6}"/>
              </a:ext>
            </a:extLst>
          </p:cNvPr>
          <p:cNvSpPr txBox="1">
            <a:spLocks/>
          </p:cNvSpPr>
          <p:nvPr/>
        </p:nvSpPr>
        <p:spPr>
          <a:xfrm>
            <a:off x="7963989" y="5581820"/>
            <a:ext cx="3659052" cy="5579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Improved Productivity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73758" y="3584773"/>
            <a:ext cx="8445499" cy="14350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63771" y="2196365"/>
            <a:ext cx="4892463" cy="624103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r>
              <a:rPr spc="-123" dirty="0">
                <a:solidFill>
                  <a:srgbClr val="000000"/>
                </a:solidFill>
              </a:rPr>
              <a:t>Search</a:t>
            </a:r>
            <a:r>
              <a:rPr spc="-390" dirty="0">
                <a:solidFill>
                  <a:srgbClr val="000000"/>
                </a:solidFill>
              </a:rPr>
              <a:t> </a:t>
            </a:r>
            <a:r>
              <a:rPr spc="-163" dirty="0">
                <a:solidFill>
                  <a:srgbClr val="000000"/>
                </a:solidFill>
              </a:rPr>
              <a:t>like</a:t>
            </a:r>
            <a:r>
              <a:rPr spc="-387" dirty="0">
                <a:solidFill>
                  <a:srgbClr val="000000"/>
                </a:solidFill>
              </a:rPr>
              <a:t> </a:t>
            </a:r>
            <a:r>
              <a:rPr i="1" spc="-353" dirty="0">
                <a:solidFill>
                  <a:srgbClr val="000000"/>
                </a:solidFill>
                <a:latin typeface="Palatino Linotype"/>
                <a:cs typeface="Palatino Linotype"/>
              </a:rPr>
              <a:t>never</a:t>
            </a:r>
            <a:r>
              <a:rPr i="1" spc="-273" dirty="0">
                <a:solidFill>
                  <a:srgbClr val="000000"/>
                </a:solidFill>
                <a:latin typeface="Palatino Linotype"/>
                <a:cs typeface="Palatino Linotype"/>
              </a:rPr>
              <a:t> </a:t>
            </a:r>
            <a:r>
              <a:rPr spc="-93" dirty="0">
                <a:solidFill>
                  <a:srgbClr val="000000"/>
                </a:solidFill>
              </a:rPr>
              <a:t>before.</a:t>
            </a:r>
          </a:p>
        </p:txBody>
      </p:sp>
      <p:pic>
        <p:nvPicPr>
          <p:cNvPr id="3076" name="Picture 4" descr="62 Chatgpt Outline Icon Stock Vectors and Vector Art | Shutterstock">
            <a:extLst>
              <a:ext uri="{FF2B5EF4-FFF2-40B4-BE49-F238E27FC236}">
                <a16:creationId xmlns:a16="http://schemas.microsoft.com/office/drawing/2014/main" id="{D6459D26-E397-BF10-5A65-4788807093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67" t="10800" r="11245" b="10444"/>
          <a:stretch>
            <a:fillRect/>
          </a:stretch>
        </p:blipFill>
        <p:spPr bwMode="auto">
          <a:xfrm>
            <a:off x="5588096" y="182880"/>
            <a:ext cx="721168" cy="731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FD48D376-F356-A7B0-7D79-14ECDBEC725A}"/>
              </a:ext>
            </a:extLst>
          </p:cNvPr>
          <p:cNvSpPr txBox="1"/>
          <p:nvPr/>
        </p:nvSpPr>
        <p:spPr>
          <a:xfrm>
            <a:off x="9177237" y="271672"/>
            <a:ext cx="2844030" cy="285549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7697">
              <a:spcBef>
                <a:spcPts val="67"/>
              </a:spcBef>
              <a:tabLst>
                <a:tab pos="1427496" algn="l"/>
                <a:tab pos="1566435" algn="l"/>
              </a:tabLst>
            </a:pPr>
            <a:r>
              <a:rPr lang="en-US" spc="-6" dirty="0">
                <a:solidFill>
                  <a:srgbClr val="535353"/>
                </a:solidFill>
                <a:latin typeface="Tahoma"/>
                <a:cs typeface="Tahoma"/>
              </a:rPr>
              <a:t>https://www.veriochi</a:t>
            </a:r>
            <a:r>
              <a:rPr spc="-6" dirty="0">
                <a:solidFill>
                  <a:srgbClr val="535353"/>
                </a:solidFill>
                <a:latin typeface="Tahoma"/>
                <a:cs typeface="Tahoma"/>
              </a:rPr>
              <a:t>.</a:t>
            </a:r>
            <a:r>
              <a:rPr lang="en-US" spc="-6" dirty="0">
                <a:solidFill>
                  <a:srgbClr val="535353"/>
                </a:solidFill>
                <a:latin typeface="Tahoma"/>
                <a:cs typeface="Tahoma"/>
              </a:rPr>
              <a:t>com</a:t>
            </a:r>
            <a:r>
              <a:rPr dirty="0">
                <a:solidFill>
                  <a:srgbClr val="535353"/>
                </a:solidFill>
                <a:latin typeface="Tahoma"/>
                <a:cs typeface="Tahoma"/>
              </a:rPr>
              <a:t>	</a:t>
            </a:r>
            <a:endParaRPr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9" y="5422300"/>
            <a:ext cx="1263510" cy="143494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80345" y="2802867"/>
            <a:ext cx="6829335" cy="1238878"/>
          </a:xfrm>
          <a:prstGeom prst="rect">
            <a:avLst/>
          </a:prstGeom>
        </p:spPr>
        <p:txBody>
          <a:bodyPr vert="horz" wrap="square" lIns="0" tIns="7697" rIns="0" bIns="0" rtlCol="0" anchor="ctr">
            <a:spAutoFit/>
          </a:bodyPr>
          <a:lstStyle/>
          <a:p>
            <a:pPr marL="7697">
              <a:lnSpc>
                <a:spcPct val="100000"/>
              </a:lnSpc>
              <a:spcBef>
                <a:spcPts val="61"/>
              </a:spcBef>
            </a:pPr>
            <a:r>
              <a:rPr sz="4000" spc="161" dirty="0">
                <a:solidFill>
                  <a:srgbClr val="373737"/>
                </a:solidFill>
              </a:rPr>
              <a:t>No</a:t>
            </a:r>
            <a:r>
              <a:rPr sz="4000" spc="-218" dirty="0">
                <a:solidFill>
                  <a:srgbClr val="373737"/>
                </a:solidFill>
              </a:rPr>
              <a:t> </a:t>
            </a:r>
            <a:r>
              <a:rPr sz="4000" spc="-42" dirty="0">
                <a:solidFill>
                  <a:srgbClr val="373737"/>
                </a:solidFill>
              </a:rPr>
              <a:t>more</a:t>
            </a:r>
            <a:br>
              <a:rPr lang="en-US" sz="4000" spc="-42" dirty="0">
                <a:solidFill>
                  <a:srgbClr val="373737"/>
                </a:solidFill>
              </a:rPr>
            </a:br>
            <a:r>
              <a:rPr sz="4000" spc="-15" dirty="0">
                <a:solidFill>
                  <a:srgbClr val="373737"/>
                </a:solidFill>
              </a:rPr>
              <a:t>software</a:t>
            </a:r>
            <a:r>
              <a:rPr lang="en-US" sz="4000" spc="-15" dirty="0">
                <a:solidFill>
                  <a:srgbClr val="373737"/>
                </a:solidFill>
              </a:rPr>
              <a:t> as a SERVICE</a:t>
            </a:r>
            <a:endParaRPr sz="4000" dirty="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34058" y="3041314"/>
            <a:ext cx="780964" cy="774614"/>
          </a:xfrm>
          <a:prstGeom prst="rect">
            <a:avLst/>
          </a:prstGeom>
        </p:spPr>
      </p:pic>
      <p:sp>
        <p:nvSpPr>
          <p:cNvPr id="6" name="object 4">
            <a:extLst>
              <a:ext uri="{FF2B5EF4-FFF2-40B4-BE49-F238E27FC236}">
                <a16:creationId xmlns:a16="http://schemas.microsoft.com/office/drawing/2014/main" id="{705483A8-C836-621F-1FD4-970C69694172}"/>
              </a:ext>
            </a:extLst>
          </p:cNvPr>
          <p:cNvSpPr txBox="1"/>
          <p:nvPr/>
        </p:nvSpPr>
        <p:spPr>
          <a:xfrm>
            <a:off x="9177237" y="271672"/>
            <a:ext cx="2844030" cy="285549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7697">
              <a:spcBef>
                <a:spcPts val="67"/>
              </a:spcBef>
              <a:tabLst>
                <a:tab pos="1427496" algn="l"/>
                <a:tab pos="1566435" algn="l"/>
              </a:tabLst>
            </a:pPr>
            <a:r>
              <a:rPr lang="en-US" spc="-6" dirty="0">
                <a:solidFill>
                  <a:srgbClr val="535353"/>
                </a:solidFill>
                <a:latin typeface="Tahoma"/>
                <a:cs typeface="Tahoma"/>
              </a:rPr>
              <a:t>https://www.veriochi</a:t>
            </a:r>
            <a:r>
              <a:rPr spc="-6" dirty="0">
                <a:solidFill>
                  <a:srgbClr val="535353"/>
                </a:solidFill>
                <a:latin typeface="Tahoma"/>
                <a:cs typeface="Tahoma"/>
              </a:rPr>
              <a:t>.</a:t>
            </a:r>
            <a:r>
              <a:rPr lang="en-US" spc="-6" dirty="0">
                <a:solidFill>
                  <a:srgbClr val="535353"/>
                </a:solidFill>
                <a:latin typeface="Tahoma"/>
                <a:cs typeface="Tahoma"/>
              </a:rPr>
              <a:t>com</a:t>
            </a:r>
            <a:r>
              <a:rPr dirty="0">
                <a:solidFill>
                  <a:srgbClr val="535353"/>
                </a:solidFill>
                <a:latin typeface="Tahoma"/>
                <a:cs typeface="Tahoma"/>
              </a:rPr>
              <a:t>	</a:t>
            </a:r>
            <a:endParaRPr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09419"/>
            <a:ext cx="4082142" cy="585788"/>
          </a:xfrm>
        </p:spPr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79DE4-CAEA-4617-897E-FEC9A2AC2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318" y="1481138"/>
            <a:ext cx="2141764" cy="5143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The shift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F1291-56EB-4A7B-A198-1D91F9ECC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4375" y="2557463"/>
            <a:ext cx="2141764" cy="514350"/>
          </a:xfrm>
        </p:spPr>
        <p:txBody>
          <a:bodyPr/>
          <a:lstStyle/>
          <a:p>
            <a:r>
              <a:rPr lang="en-US" dirty="0"/>
              <a:t>THE GAP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84E21C-7534-4FB5-9709-F7D1A11034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20800" y="3633788"/>
            <a:ext cx="2141764" cy="514350"/>
          </a:xfrm>
        </p:spPr>
        <p:txBody>
          <a:bodyPr/>
          <a:lstStyle/>
          <a:p>
            <a:r>
              <a:rPr lang="en-US" dirty="0"/>
              <a:t>The cost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594564-4FC6-401A-8586-44735EE819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05000" y="4710114"/>
            <a:ext cx="2141764" cy="514350"/>
          </a:xfrm>
        </p:spPr>
        <p:txBody>
          <a:bodyPr/>
          <a:lstStyle/>
          <a:p>
            <a:r>
              <a:rPr lang="en-US" dirty="0"/>
              <a:t>The need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7EB25CA-DA83-483D-AF83-0001BDF2DE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1535" y="1594478"/>
            <a:ext cx="5539095" cy="1010842"/>
          </a:xfrm>
        </p:spPr>
        <p:txBody>
          <a:bodyPr/>
          <a:lstStyle/>
          <a:p>
            <a:r>
              <a:rPr lang="en-US" dirty="0"/>
              <a:t>Models replace tools, rather than enhance them. Replacing human input required for creative work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46CE8C6-E12D-4A0D-8553-7FFA31941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86028" y="2682564"/>
            <a:ext cx="5681972" cy="1010842"/>
          </a:xfrm>
        </p:spPr>
        <p:txBody>
          <a:bodyPr/>
          <a:lstStyle/>
          <a:p>
            <a:r>
              <a:rPr lang="en-US" dirty="0"/>
              <a:t>Current workflows lack true collaboration, users simply “prompt” an AI, losing the ability to iterate and refine during the process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C7D5285-85DF-4331-A6FA-1AE847CA47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76937" y="3755394"/>
            <a:ext cx="5539095" cy="1010842"/>
          </a:xfrm>
        </p:spPr>
        <p:txBody>
          <a:bodyPr/>
          <a:lstStyle/>
          <a:p>
            <a:r>
              <a:rPr lang="en-US" b="1" dirty="0"/>
              <a:t>Without a workspace to build and without AI</a:t>
            </a:r>
            <a:r>
              <a:rPr lang="en-US" dirty="0"/>
              <a:t>, professionals lose creative control and nuance in their final output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2D305EF-9A88-496B-BFC1-D589A01EE38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5279" y="4824430"/>
            <a:ext cx="5844001" cy="1010842"/>
          </a:xfrm>
        </p:spPr>
        <p:txBody>
          <a:bodyPr/>
          <a:lstStyle/>
          <a:p>
            <a:r>
              <a:rPr lang="en-US" dirty="0"/>
              <a:t>We need </a:t>
            </a:r>
            <a:r>
              <a:rPr lang="en-US" b="1" dirty="0"/>
              <a:t>Studios</a:t>
            </a:r>
            <a:r>
              <a:rPr lang="en-US" dirty="0"/>
              <a:t>, actual software environments (Code, Design, Docs) where humans  and AI work side-by-side on the same canvas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0BF6865-7FAE-4B56-A995-ADF1582D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2025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7312B71A-5E84-41DE-9754-5F6291F6D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9" y="5422300"/>
            <a:ext cx="1263510" cy="14349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05DB91-4B0C-5FC9-7650-CF935652C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960" y="1689446"/>
            <a:ext cx="10038080" cy="3479108"/>
          </a:xfrm>
          <a:prstGeom prst="rect">
            <a:avLst/>
          </a:prstGeom>
        </p:spPr>
      </p:pic>
      <p:sp>
        <p:nvSpPr>
          <p:cNvPr id="11" name="object 4">
            <a:extLst>
              <a:ext uri="{FF2B5EF4-FFF2-40B4-BE49-F238E27FC236}">
                <a16:creationId xmlns:a16="http://schemas.microsoft.com/office/drawing/2014/main" id="{D43FD26A-9EA7-74F9-8E03-1C49A6D35DCA}"/>
              </a:ext>
            </a:extLst>
          </p:cNvPr>
          <p:cNvSpPr txBox="1"/>
          <p:nvPr/>
        </p:nvSpPr>
        <p:spPr>
          <a:xfrm>
            <a:off x="9177237" y="271672"/>
            <a:ext cx="2844030" cy="285549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7697">
              <a:spcBef>
                <a:spcPts val="67"/>
              </a:spcBef>
              <a:tabLst>
                <a:tab pos="1427496" algn="l"/>
                <a:tab pos="1566435" algn="l"/>
              </a:tabLst>
            </a:pPr>
            <a:r>
              <a:rPr lang="en-US" spc="-6" dirty="0">
                <a:solidFill>
                  <a:srgbClr val="535353"/>
                </a:solidFill>
                <a:latin typeface="Tahoma"/>
                <a:cs typeface="Tahoma"/>
              </a:rPr>
              <a:t>https://www.veriochi</a:t>
            </a:r>
            <a:r>
              <a:rPr spc="-6" dirty="0">
                <a:solidFill>
                  <a:srgbClr val="535353"/>
                </a:solidFill>
                <a:latin typeface="Tahoma"/>
                <a:cs typeface="Tahoma"/>
              </a:rPr>
              <a:t>.</a:t>
            </a:r>
            <a:r>
              <a:rPr lang="en-US" spc="-6" dirty="0">
                <a:solidFill>
                  <a:srgbClr val="535353"/>
                </a:solidFill>
                <a:latin typeface="Tahoma"/>
                <a:cs typeface="Tahoma"/>
              </a:rPr>
              <a:t>com</a:t>
            </a:r>
            <a:r>
              <a:rPr dirty="0">
                <a:solidFill>
                  <a:srgbClr val="535353"/>
                </a:solidFill>
                <a:latin typeface="Tahoma"/>
                <a:cs typeface="Tahoma"/>
              </a:rPr>
              <a:t>	</a:t>
            </a:r>
            <a:endParaRPr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4156405"/>
            <a:ext cx="3139440" cy="1325563"/>
          </a:xfrm>
        </p:spPr>
        <p:txBody>
          <a:bodyPr/>
          <a:lstStyle/>
          <a:p>
            <a:r>
              <a:rPr lang="en-US" dirty="0"/>
              <a:t>PRODUCT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254" y="1530635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CHAT STUDIO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/>
          <a:p>
            <a:r>
              <a:rPr lang="en-US" dirty="0"/>
              <a:t>Product development and rapid prototyping with AI assistance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22254" y="2630431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BUILD STUDIO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21828" y="2959856"/>
            <a:ext cx="5431971" cy="557950"/>
          </a:xfrm>
        </p:spPr>
        <p:txBody>
          <a:bodyPr/>
          <a:lstStyle/>
          <a:p>
            <a:r>
              <a:rPr lang="en-US" dirty="0"/>
              <a:t>coding environment that accelerates development.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1D392D-FB66-47A0-B628-5ADE822A2CF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22254" y="3730227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DESIGN STUDIO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1C26CE0-2506-4B44-A26F-C12BFA5B18B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21828" y="4059652"/>
            <a:ext cx="5431971" cy="557950"/>
          </a:xfrm>
        </p:spPr>
        <p:txBody>
          <a:bodyPr/>
          <a:lstStyle/>
          <a:p>
            <a:r>
              <a:rPr lang="en-US" dirty="0"/>
              <a:t>Visual design and creative workspace where ideas come to life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68F40F8-BF35-45E9-B3DD-5436362D746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20106" y="4830024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DOCS STUDIO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F39C97C-2DDC-4706-B96C-B02FAE53A42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919680" y="5159449"/>
            <a:ext cx="5431971" cy="557950"/>
          </a:xfrm>
        </p:spPr>
        <p:txBody>
          <a:bodyPr/>
          <a:lstStyle/>
          <a:p>
            <a:r>
              <a:rPr lang="en-US" dirty="0"/>
              <a:t>AI-powered writing, spreadsheet and documentation assistant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A74D661B-510C-4CF2-BF77-3EAFB649883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/>
          <a:p>
            <a:r>
              <a:rPr lang="en-US" dirty="0"/>
              <a:t>2025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E44CAC0-3B5A-49F6-A2CB-0BC80D111A8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57BCAA2B-CABC-35D6-D547-165F2D1466E0}"/>
              </a:ext>
            </a:extLst>
          </p:cNvPr>
          <p:cNvSpPr txBox="1"/>
          <p:nvPr/>
        </p:nvSpPr>
        <p:spPr>
          <a:xfrm>
            <a:off x="9177237" y="271672"/>
            <a:ext cx="2844030" cy="285549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7697">
              <a:spcBef>
                <a:spcPts val="67"/>
              </a:spcBef>
              <a:tabLst>
                <a:tab pos="1427496" algn="l"/>
                <a:tab pos="1566435" algn="l"/>
              </a:tabLst>
            </a:pPr>
            <a:r>
              <a:rPr lang="en-US" spc="-6" dirty="0">
                <a:solidFill>
                  <a:srgbClr val="535353"/>
                </a:solidFill>
                <a:latin typeface="Tahoma"/>
                <a:cs typeface="Tahoma"/>
              </a:rPr>
              <a:t>https://www.veriochi</a:t>
            </a:r>
            <a:r>
              <a:rPr spc="-6" dirty="0">
                <a:solidFill>
                  <a:srgbClr val="535353"/>
                </a:solidFill>
                <a:latin typeface="Tahoma"/>
                <a:cs typeface="Tahoma"/>
              </a:rPr>
              <a:t>.</a:t>
            </a:r>
            <a:r>
              <a:rPr lang="en-US" spc="-6" dirty="0">
                <a:solidFill>
                  <a:srgbClr val="535353"/>
                </a:solidFill>
                <a:latin typeface="Tahoma"/>
                <a:cs typeface="Tahoma"/>
              </a:rPr>
              <a:t>com</a:t>
            </a:r>
            <a:r>
              <a:rPr dirty="0">
                <a:solidFill>
                  <a:srgbClr val="535353"/>
                </a:solidFill>
                <a:latin typeface="Tahoma"/>
                <a:cs typeface="Tahoma"/>
              </a:rPr>
              <a:t>	</a:t>
            </a:r>
            <a:endParaRPr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/>
          <a:lstStyle/>
          <a:p>
            <a:r>
              <a:rPr lang="en-US" dirty="0"/>
              <a:t>MARKET 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2B089-A8F9-45B1-BE6E-EAC10163F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104" y="2776936"/>
            <a:ext cx="2882475" cy="823912"/>
          </a:xfrm>
        </p:spPr>
        <p:txBody>
          <a:bodyPr/>
          <a:lstStyle/>
          <a:p>
            <a:r>
              <a:rPr lang="en-US" sz="3200" dirty="0"/>
              <a:t>$638 Billion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B35F89A-6CDF-41F7-BD87-18B45BD73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3156176" cy="19978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fontAlgn="t"/>
            <a:r>
              <a:rPr lang="en-US" dirty="0"/>
              <a:t>Total Addressable Market (TAM)</a:t>
            </a:r>
          </a:p>
          <a:p>
            <a:pPr fontAlgn="t"/>
            <a:r>
              <a:rPr lang="en-US" dirty="0"/>
              <a:t>Global AI Software Market (2025)</a:t>
            </a:r>
          </a:p>
          <a:p>
            <a:pPr fontAlgn="t"/>
            <a:r>
              <a:rPr lang="en-US" dirty="0"/>
              <a:t>Includes all AI Services &amp; Hardware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FE22F9B-4BF8-41DC-8F1C-836B546E5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7665" y="2776936"/>
            <a:ext cx="2896671" cy="823912"/>
          </a:xfrm>
        </p:spPr>
        <p:txBody>
          <a:bodyPr/>
          <a:lstStyle/>
          <a:p>
            <a:r>
              <a:rPr lang="en-US" sz="3200" dirty="0"/>
              <a:t>$81 Billion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1C399-8F48-44F5-9461-3C89866D4C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3156176" cy="1997867"/>
          </a:xfrm>
        </p:spPr>
        <p:txBody>
          <a:bodyPr/>
          <a:lstStyle/>
          <a:p>
            <a:pPr fontAlgn="t"/>
            <a:r>
              <a:rPr lang="en-US" dirty="0"/>
              <a:t>Serviceable Available Market (SAM)</a:t>
            </a:r>
          </a:p>
          <a:p>
            <a:pPr fontAlgn="t"/>
            <a:r>
              <a:rPr lang="en-US" dirty="0"/>
              <a:t>Global Productivity Software</a:t>
            </a:r>
          </a:p>
          <a:p>
            <a:pPr fontAlgn="t"/>
            <a:r>
              <a:rPr lang="en-US" dirty="0"/>
              <a:t>High-growth collaborative tools sector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515C5D-2CDB-4E66-B2B8-1451BC44247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066421" y="2776936"/>
            <a:ext cx="2882475" cy="8239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dirty="0"/>
              <a:t>$24 Billion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92B9716-8D44-4864-8986-720957B3436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/>
          <a:lstStyle/>
          <a:p>
            <a:pPr fontAlgn="t"/>
            <a:r>
              <a:rPr lang="en-US" dirty="0"/>
              <a:t>Serviceable Obtainable Market (SOM)</a:t>
            </a:r>
          </a:p>
          <a:p>
            <a:pPr fontAlgn="t"/>
            <a:r>
              <a:rPr lang="en-US" dirty="0"/>
              <a:t>Unified Workspaces &amp; Dev Tools</a:t>
            </a:r>
          </a:p>
          <a:p>
            <a:pPr fontAlgn="t"/>
            <a:r>
              <a:rPr lang="en-US" b="1" dirty="0" err="1">
                <a:solidFill>
                  <a:srgbClr val="002060"/>
                </a:solidFill>
              </a:rPr>
              <a:t>Veriochi's</a:t>
            </a:r>
            <a:r>
              <a:rPr lang="en-US" b="1" dirty="0">
                <a:solidFill>
                  <a:srgbClr val="002060"/>
                </a:solidFill>
              </a:rPr>
              <a:t> Core Target Segment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1658B1A5-5605-3092-DDD8-07F22132AE2F}"/>
              </a:ext>
            </a:extLst>
          </p:cNvPr>
          <p:cNvSpPr txBox="1"/>
          <p:nvPr/>
        </p:nvSpPr>
        <p:spPr>
          <a:xfrm>
            <a:off x="9177237" y="271672"/>
            <a:ext cx="2844030" cy="285549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7697">
              <a:spcBef>
                <a:spcPts val="67"/>
              </a:spcBef>
              <a:tabLst>
                <a:tab pos="1427496" algn="l"/>
                <a:tab pos="1566435" algn="l"/>
              </a:tabLst>
            </a:pPr>
            <a:r>
              <a:rPr lang="en-US" spc="-6" dirty="0">
                <a:solidFill>
                  <a:srgbClr val="535353"/>
                </a:solidFill>
                <a:latin typeface="Tahoma"/>
                <a:cs typeface="Tahoma"/>
              </a:rPr>
              <a:t>https://www.veriochi</a:t>
            </a:r>
            <a:r>
              <a:rPr spc="-6" dirty="0">
                <a:solidFill>
                  <a:srgbClr val="535353"/>
                </a:solidFill>
                <a:latin typeface="Tahoma"/>
                <a:cs typeface="Tahoma"/>
              </a:rPr>
              <a:t>.</a:t>
            </a:r>
            <a:r>
              <a:rPr lang="en-US" spc="-6" dirty="0">
                <a:solidFill>
                  <a:srgbClr val="535353"/>
                </a:solidFill>
                <a:latin typeface="Tahoma"/>
                <a:cs typeface="Tahoma"/>
              </a:rPr>
              <a:t>com</a:t>
            </a:r>
            <a:r>
              <a:rPr dirty="0">
                <a:solidFill>
                  <a:srgbClr val="535353"/>
                </a:solidFill>
                <a:latin typeface="Tahoma"/>
                <a:cs typeface="Tahoma"/>
              </a:rPr>
              <a:t>	</a:t>
            </a:r>
            <a:endParaRPr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4BC4F-3D59-464A-857E-6F155B368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/>
          <a:lstStyle/>
          <a:p>
            <a:r>
              <a:rPr lang="en-US" dirty="0"/>
              <a:t>Market projection and competition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22D8C-87A6-47AD-8D29-FBBA539EDB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02F21-4E3C-469E-B11C-921423108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9" name="object 20">
            <a:extLst>
              <a:ext uri="{FF2B5EF4-FFF2-40B4-BE49-F238E27FC236}">
                <a16:creationId xmlns:a16="http://schemas.microsoft.com/office/drawing/2014/main" id="{007F1624-D164-ECB3-ECBE-4C75B552BC1F}"/>
              </a:ext>
            </a:extLst>
          </p:cNvPr>
          <p:cNvSpPr txBox="1"/>
          <p:nvPr/>
        </p:nvSpPr>
        <p:spPr>
          <a:xfrm>
            <a:off x="2096965" y="3011487"/>
            <a:ext cx="1186815" cy="83502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35"/>
              </a:spcBef>
            </a:pPr>
            <a:r>
              <a:rPr sz="3300" b="1" spc="-340" dirty="0">
                <a:solidFill>
                  <a:srgbClr val="333333"/>
                </a:solidFill>
                <a:latin typeface="Tahoma"/>
                <a:cs typeface="Tahoma"/>
              </a:rPr>
              <a:t>$500B</a:t>
            </a:r>
            <a:endParaRPr sz="3300" dirty="0">
              <a:latin typeface="Tahoma"/>
              <a:cs typeface="Tahoma"/>
            </a:endParaRPr>
          </a:p>
          <a:p>
            <a:pPr marR="1905" algn="ctr">
              <a:lnSpc>
                <a:spcPct val="100000"/>
              </a:lnSpc>
              <a:spcBef>
                <a:spcPts val="290"/>
              </a:spcBef>
            </a:pPr>
            <a:r>
              <a:rPr sz="1150" spc="-10" dirty="0">
                <a:solidFill>
                  <a:srgbClr val="777777"/>
                </a:solidFill>
                <a:latin typeface="Arial MT"/>
                <a:cs typeface="Arial MT"/>
              </a:rPr>
              <a:t>OPENAI</a:t>
            </a:r>
            <a:endParaRPr sz="1150" dirty="0">
              <a:latin typeface="Arial MT"/>
              <a:cs typeface="Arial MT"/>
            </a:endParaRPr>
          </a:p>
        </p:txBody>
      </p:sp>
      <p:sp>
        <p:nvSpPr>
          <p:cNvPr id="32" name="object 22">
            <a:extLst>
              <a:ext uri="{FF2B5EF4-FFF2-40B4-BE49-F238E27FC236}">
                <a16:creationId xmlns:a16="http://schemas.microsoft.com/office/drawing/2014/main" id="{D672FAB3-7807-6A85-2B33-1F8E9A3B9220}"/>
              </a:ext>
            </a:extLst>
          </p:cNvPr>
          <p:cNvSpPr txBox="1"/>
          <p:nvPr/>
        </p:nvSpPr>
        <p:spPr>
          <a:xfrm>
            <a:off x="5644469" y="3011486"/>
            <a:ext cx="882015" cy="83502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3300" b="1" spc="-500" dirty="0">
                <a:solidFill>
                  <a:srgbClr val="4E45E4"/>
                </a:solidFill>
                <a:latin typeface="Tahoma"/>
                <a:cs typeface="Tahoma"/>
              </a:rPr>
              <a:t>$57B</a:t>
            </a:r>
            <a:endParaRPr sz="3300" dirty="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290"/>
              </a:spcBef>
            </a:pPr>
            <a:r>
              <a:rPr sz="1150" spc="-10" dirty="0">
                <a:solidFill>
                  <a:srgbClr val="4E45E4"/>
                </a:solidFill>
                <a:latin typeface="Verdana"/>
                <a:cs typeface="Verdana"/>
              </a:rPr>
              <a:t>PROJECTED</a:t>
            </a:r>
            <a:endParaRPr sz="1150" dirty="0">
              <a:latin typeface="Verdana"/>
              <a:cs typeface="Verdana"/>
            </a:endParaRPr>
          </a:p>
        </p:txBody>
      </p:sp>
      <p:sp>
        <p:nvSpPr>
          <p:cNvPr id="37" name="object 24">
            <a:extLst>
              <a:ext uri="{FF2B5EF4-FFF2-40B4-BE49-F238E27FC236}">
                <a16:creationId xmlns:a16="http://schemas.microsoft.com/office/drawing/2014/main" id="{B7C15FE3-190D-1CBA-2554-9CDE8983167A}"/>
              </a:ext>
            </a:extLst>
          </p:cNvPr>
          <p:cNvSpPr txBox="1"/>
          <p:nvPr/>
        </p:nvSpPr>
        <p:spPr>
          <a:xfrm>
            <a:off x="9077325" y="3011485"/>
            <a:ext cx="691515" cy="83502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3300" b="1" spc="-455" dirty="0">
                <a:solidFill>
                  <a:srgbClr val="333333"/>
                </a:solidFill>
                <a:latin typeface="Tahoma"/>
                <a:cs typeface="Tahoma"/>
              </a:rPr>
              <a:t>$2B</a:t>
            </a:r>
            <a:endParaRPr sz="3300" dirty="0">
              <a:latin typeface="Tahoma"/>
              <a:cs typeface="Tahoma"/>
            </a:endParaRPr>
          </a:p>
          <a:p>
            <a:pPr marL="71755">
              <a:lnSpc>
                <a:spcPct val="100000"/>
              </a:lnSpc>
              <a:spcBef>
                <a:spcPts val="290"/>
              </a:spcBef>
            </a:pPr>
            <a:r>
              <a:rPr sz="1150" spc="-10" dirty="0">
                <a:solidFill>
                  <a:srgbClr val="777777"/>
                </a:solidFill>
                <a:latin typeface="Arial MT"/>
                <a:cs typeface="Arial MT"/>
              </a:rPr>
              <a:t>GAMMA</a:t>
            </a:r>
            <a:endParaRPr sz="1150" dirty="0">
              <a:latin typeface="Arial MT"/>
              <a:cs typeface="Arial MT"/>
            </a:endParaRPr>
          </a:p>
        </p:txBody>
      </p:sp>
      <p:sp>
        <p:nvSpPr>
          <p:cNvPr id="38" name="object 3">
            <a:extLst>
              <a:ext uri="{FF2B5EF4-FFF2-40B4-BE49-F238E27FC236}">
                <a16:creationId xmlns:a16="http://schemas.microsoft.com/office/drawing/2014/main" id="{5B854FBE-D59F-B1EA-A540-6A6C17734914}"/>
              </a:ext>
            </a:extLst>
          </p:cNvPr>
          <p:cNvSpPr txBox="1"/>
          <p:nvPr/>
        </p:nvSpPr>
        <p:spPr>
          <a:xfrm>
            <a:off x="2096965" y="4303087"/>
            <a:ext cx="1178560" cy="428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1789"/>
              </a:lnSpc>
              <a:spcBef>
                <a:spcPts val="110"/>
              </a:spcBef>
            </a:pPr>
            <a:r>
              <a:rPr sz="1500" b="1" spc="-55" dirty="0">
                <a:solidFill>
                  <a:srgbClr val="545454"/>
                </a:solidFill>
                <a:latin typeface="Arial"/>
                <a:cs typeface="Arial"/>
              </a:rPr>
              <a:t>Infrastructure</a:t>
            </a:r>
            <a:endParaRPr sz="1500" dirty="0">
              <a:latin typeface="Arial"/>
              <a:cs typeface="Arial"/>
            </a:endParaRPr>
          </a:p>
          <a:p>
            <a:pPr marL="45720">
              <a:lnSpc>
                <a:spcPts val="1370"/>
              </a:lnSpc>
            </a:pPr>
            <a:r>
              <a:rPr sz="1150" spc="-80" dirty="0">
                <a:solidFill>
                  <a:srgbClr val="999999"/>
                </a:solidFill>
                <a:latin typeface="Lucida Sans Unicode"/>
                <a:cs typeface="Lucida Sans Unicode"/>
              </a:rPr>
              <a:t>Foundation</a:t>
            </a:r>
            <a:r>
              <a:rPr sz="1150" spc="-145" dirty="0">
                <a:solidFill>
                  <a:srgbClr val="999999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999999"/>
                </a:solidFill>
                <a:latin typeface="Lucida Sans Unicode"/>
                <a:cs typeface="Lucida Sans Unicode"/>
              </a:rPr>
              <a:t>Layer</a:t>
            </a:r>
            <a:endParaRPr sz="1150" dirty="0">
              <a:latin typeface="Lucida Sans Unicode"/>
              <a:cs typeface="Lucida Sans Unicode"/>
            </a:endParaRPr>
          </a:p>
        </p:txBody>
      </p:sp>
      <p:sp>
        <p:nvSpPr>
          <p:cNvPr id="39" name="object 4">
            <a:extLst>
              <a:ext uri="{FF2B5EF4-FFF2-40B4-BE49-F238E27FC236}">
                <a16:creationId xmlns:a16="http://schemas.microsoft.com/office/drawing/2014/main" id="{21A57269-2C2C-E246-7FAF-398AB257C966}"/>
              </a:ext>
            </a:extLst>
          </p:cNvPr>
          <p:cNvSpPr txBox="1"/>
          <p:nvPr/>
        </p:nvSpPr>
        <p:spPr>
          <a:xfrm>
            <a:off x="5252991" y="4394929"/>
            <a:ext cx="1664970" cy="42925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540" algn="ctr">
              <a:lnSpc>
                <a:spcPts val="1789"/>
              </a:lnSpc>
              <a:spcBef>
                <a:spcPts val="114"/>
              </a:spcBef>
            </a:pPr>
            <a:r>
              <a:rPr sz="1500" b="1" spc="-65" dirty="0">
                <a:solidFill>
                  <a:srgbClr val="4E45E4"/>
                </a:solidFill>
                <a:latin typeface="Arial"/>
                <a:cs typeface="Arial"/>
              </a:rPr>
              <a:t>Veriochi</a:t>
            </a:r>
            <a:r>
              <a:rPr sz="1500" b="1" spc="-85" dirty="0">
                <a:solidFill>
                  <a:srgbClr val="4E45E4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4E45E4"/>
                </a:solidFill>
                <a:latin typeface="Arial"/>
                <a:cs typeface="Arial"/>
              </a:rPr>
              <a:t>Target</a:t>
            </a:r>
            <a:endParaRPr sz="1500" dirty="0">
              <a:latin typeface="Arial"/>
              <a:cs typeface="Arial"/>
            </a:endParaRPr>
          </a:p>
          <a:p>
            <a:pPr algn="ctr">
              <a:lnSpc>
                <a:spcPts val="1370"/>
              </a:lnSpc>
            </a:pPr>
            <a:r>
              <a:rPr sz="1150" spc="-70" dirty="0">
                <a:solidFill>
                  <a:srgbClr val="999999"/>
                </a:solidFill>
                <a:latin typeface="Lucida Sans Unicode"/>
                <a:cs typeface="Lucida Sans Unicode"/>
              </a:rPr>
              <a:t>Unified</a:t>
            </a:r>
            <a:r>
              <a:rPr sz="1150" spc="-200" dirty="0">
                <a:solidFill>
                  <a:srgbClr val="999999"/>
                </a:solidFill>
                <a:latin typeface="Lucida Sans Unicode"/>
                <a:cs typeface="Lucida Sans Unicode"/>
              </a:rPr>
              <a:t> </a:t>
            </a:r>
            <a:r>
              <a:rPr sz="1150" spc="-50" dirty="0">
                <a:solidFill>
                  <a:srgbClr val="999999"/>
                </a:solidFill>
                <a:latin typeface="Lucida Sans Unicode"/>
                <a:cs typeface="Lucida Sans Unicode"/>
              </a:rPr>
              <a:t>Workspace</a:t>
            </a:r>
            <a:r>
              <a:rPr sz="1150" spc="-125" dirty="0">
                <a:solidFill>
                  <a:srgbClr val="999999"/>
                </a:solidFill>
                <a:latin typeface="Lucida Sans Unicode"/>
                <a:cs typeface="Lucida Sans Unicode"/>
              </a:rPr>
              <a:t> </a:t>
            </a:r>
            <a:r>
              <a:rPr sz="1150" spc="-10" dirty="0">
                <a:solidFill>
                  <a:srgbClr val="999999"/>
                </a:solidFill>
                <a:latin typeface="Lucida Sans Unicode"/>
                <a:cs typeface="Lucida Sans Unicode"/>
              </a:rPr>
              <a:t>(2030)</a:t>
            </a:r>
            <a:endParaRPr sz="1150" dirty="0">
              <a:latin typeface="Lucida Sans Unicode"/>
              <a:cs typeface="Lucida Sans Unicode"/>
            </a:endParaRPr>
          </a:p>
        </p:txBody>
      </p:sp>
      <p:sp>
        <p:nvSpPr>
          <p:cNvPr id="40" name="object 5">
            <a:extLst>
              <a:ext uri="{FF2B5EF4-FFF2-40B4-BE49-F238E27FC236}">
                <a16:creationId xmlns:a16="http://schemas.microsoft.com/office/drawing/2014/main" id="{E0EBDACA-8E62-EE60-9877-D0DD1C4800F4}"/>
              </a:ext>
            </a:extLst>
          </p:cNvPr>
          <p:cNvSpPr txBox="1"/>
          <p:nvPr/>
        </p:nvSpPr>
        <p:spPr>
          <a:xfrm>
            <a:off x="8768715" y="4395563"/>
            <a:ext cx="1213485" cy="428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1789"/>
              </a:lnSpc>
              <a:spcBef>
                <a:spcPts val="110"/>
              </a:spcBef>
            </a:pPr>
            <a:r>
              <a:rPr sz="1500" b="1" spc="-50" dirty="0">
                <a:solidFill>
                  <a:srgbClr val="545454"/>
                </a:solidFill>
                <a:latin typeface="Arial"/>
                <a:cs typeface="Arial"/>
              </a:rPr>
              <a:t>Point</a:t>
            </a:r>
            <a:r>
              <a:rPr sz="1500" b="1" spc="-195" dirty="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sz="1500" b="1" spc="-40" dirty="0">
                <a:solidFill>
                  <a:srgbClr val="545454"/>
                </a:solidFill>
                <a:latin typeface="Arial"/>
                <a:cs typeface="Arial"/>
              </a:rPr>
              <a:t>Solution</a:t>
            </a:r>
            <a:endParaRPr sz="1500" dirty="0">
              <a:latin typeface="Arial"/>
              <a:cs typeface="Arial"/>
            </a:endParaRPr>
          </a:p>
          <a:p>
            <a:pPr marL="17145">
              <a:lnSpc>
                <a:spcPts val="1370"/>
              </a:lnSpc>
            </a:pPr>
            <a:r>
              <a:rPr sz="1150" spc="-65" dirty="0">
                <a:solidFill>
                  <a:srgbClr val="999999"/>
                </a:solidFill>
                <a:latin typeface="Lucida Sans Unicode"/>
                <a:cs typeface="Lucida Sans Unicode"/>
              </a:rPr>
              <a:t>Single</a:t>
            </a:r>
            <a:r>
              <a:rPr sz="1150" spc="-135" dirty="0">
                <a:solidFill>
                  <a:srgbClr val="999999"/>
                </a:solidFill>
                <a:latin typeface="Lucida Sans Unicode"/>
                <a:cs typeface="Lucida Sans Unicode"/>
              </a:rPr>
              <a:t> </a:t>
            </a:r>
            <a:r>
              <a:rPr sz="1150" spc="-50" dirty="0">
                <a:solidFill>
                  <a:srgbClr val="999999"/>
                </a:solidFill>
                <a:latin typeface="Lucida Sans Unicode"/>
                <a:cs typeface="Lucida Sans Unicode"/>
              </a:rPr>
              <a:t>Feature</a:t>
            </a:r>
            <a:r>
              <a:rPr sz="1150" spc="-130" dirty="0">
                <a:solidFill>
                  <a:srgbClr val="999999"/>
                </a:solidFill>
                <a:latin typeface="Lucida Sans Unicode"/>
                <a:cs typeface="Lucida Sans Unicode"/>
              </a:rPr>
              <a:t> </a:t>
            </a:r>
            <a:r>
              <a:rPr sz="1150" spc="-95" dirty="0">
                <a:solidFill>
                  <a:srgbClr val="999999"/>
                </a:solidFill>
                <a:latin typeface="Lucida Sans Unicode"/>
                <a:cs typeface="Lucida Sans Unicode"/>
              </a:rPr>
              <a:t>Tool</a:t>
            </a:r>
            <a:endParaRPr sz="1150" dirty="0">
              <a:latin typeface="Lucida Sans Unicode"/>
              <a:cs typeface="Lucida Sans Unicode"/>
            </a:endParaRPr>
          </a:p>
        </p:txBody>
      </p:sp>
      <p:sp>
        <p:nvSpPr>
          <p:cNvPr id="54" name="object 4">
            <a:extLst>
              <a:ext uri="{FF2B5EF4-FFF2-40B4-BE49-F238E27FC236}">
                <a16:creationId xmlns:a16="http://schemas.microsoft.com/office/drawing/2014/main" id="{47ABC9BF-F464-7669-A2FD-996D2F618AF3}"/>
              </a:ext>
            </a:extLst>
          </p:cNvPr>
          <p:cNvSpPr txBox="1"/>
          <p:nvPr/>
        </p:nvSpPr>
        <p:spPr>
          <a:xfrm>
            <a:off x="9177237" y="271672"/>
            <a:ext cx="2844030" cy="285549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7697">
              <a:spcBef>
                <a:spcPts val="67"/>
              </a:spcBef>
              <a:tabLst>
                <a:tab pos="1427496" algn="l"/>
                <a:tab pos="1566435" algn="l"/>
              </a:tabLst>
            </a:pPr>
            <a:r>
              <a:rPr lang="en-US" spc="-6" dirty="0">
                <a:solidFill>
                  <a:srgbClr val="535353"/>
                </a:solidFill>
                <a:latin typeface="Tahoma"/>
                <a:cs typeface="Tahoma"/>
              </a:rPr>
              <a:t>https://www.veriochi</a:t>
            </a:r>
            <a:r>
              <a:rPr spc="-6" dirty="0">
                <a:solidFill>
                  <a:srgbClr val="535353"/>
                </a:solidFill>
                <a:latin typeface="Tahoma"/>
                <a:cs typeface="Tahoma"/>
              </a:rPr>
              <a:t>.</a:t>
            </a:r>
            <a:r>
              <a:rPr lang="en-US" spc="-6" dirty="0">
                <a:solidFill>
                  <a:srgbClr val="535353"/>
                </a:solidFill>
                <a:latin typeface="Tahoma"/>
                <a:cs typeface="Tahoma"/>
              </a:rPr>
              <a:t>com</a:t>
            </a:r>
            <a:r>
              <a:rPr dirty="0">
                <a:solidFill>
                  <a:srgbClr val="535353"/>
                </a:solidFill>
                <a:latin typeface="Tahoma"/>
                <a:cs typeface="Tahoma"/>
              </a:rPr>
              <a:t>	</a:t>
            </a:r>
            <a:endParaRPr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04854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C0770-A36E-4500-AA2E-F3DE8416A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Our competition 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97FAAF-FD5C-4EDE-A2D8-1482664534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42517" y="1599947"/>
            <a:ext cx="1706965" cy="492025"/>
          </a:xfrm>
        </p:spPr>
        <p:txBody>
          <a:bodyPr>
            <a:normAutofit/>
          </a:bodyPr>
          <a:lstStyle/>
          <a:p>
            <a:r>
              <a:rPr lang="en-US" dirty="0"/>
              <a:t>Convenient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2F06784-6A30-4941-B70A-A58B611950D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738732" y="2378452"/>
            <a:ext cx="1183179" cy="492025"/>
          </a:xfrm>
        </p:spPr>
        <p:txBody>
          <a:bodyPr>
            <a:normAutofit/>
          </a:bodyPr>
          <a:lstStyle/>
          <a:p>
            <a:r>
              <a:rPr lang="en-US" dirty="0"/>
              <a:t>Competitor A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8BD1918-91E9-45FF-B758-93DAFA9EAF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21894" y="3528829"/>
            <a:ext cx="1393863" cy="492025"/>
          </a:xfrm>
        </p:spPr>
        <p:txBody>
          <a:bodyPr/>
          <a:lstStyle/>
          <a:p>
            <a:r>
              <a:rPr lang="en-US" dirty="0"/>
              <a:t>Affordable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C0C8B1-2DBC-40B1-BBA7-7B3D396478A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940449" y="3528829"/>
            <a:ext cx="1380681" cy="492025"/>
          </a:xfrm>
        </p:spPr>
        <p:txBody>
          <a:bodyPr>
            <a:normAutofit/>
          </a:bodyPr>
          <a:lstStyle/>
          <a:p>
            <a:r>
              <a:rPr lang="en-US" dirty="0"/>
              <a:t>Expensive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25FED20-8F0E-4B86-88AD-F902806B2C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637747" y="4634331"/>
            <a:ext cx="1183179" cy="492025"/>
          </a:xfrm>
        </p:spPr>
        <p:txBody>
          <a:bodyPr/>
          <a:lstStyle/>
          <a:p>
            <a:r>
              <a:rPr lang="en-US" dirty="0"/>
              <a:t>Google Gemini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68D7422-F48C-4829-8937-7DA701F3303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175224" y="4459860"/>
            <a:ext cx="1183179" cy="492025"/>
          </a:xfrm>
        </p:spPr>
        <p:txBody>
          <a:bodyPr/>
          <a:lstStyle/>
          <a:p>
            <a:r>
              <a:rPr lang="en-US" dirty="0"/>
              <a:t>Anthropic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2329531A-E68A-4913-9B66-062FBAC6D24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52714" y="4321788"/>
            <a:ext cx="1183179" cy="492025"/>
          </a:xfrm>
        </p:spPr>
        <p:txBody>
          <a:bodyPr/>
          <a:lstStyle/>
          <a:p>
            <a:r>
              <a:rPr lang="en-US" dirty="0"/>
              <a:t>Univer AI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0BD43D-EBFD-48E7-A1D3-EB9228D4C58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42517" y="5468790"/>
            <a:ext cx="1706965" cy="492025"/>
          </a:xfrm>
        </p:spPr>
        <p:txBody>
          <a:bodyPr>
            <a:normAutofit/>
          </a:bodyPr>
          <a:lstStyle/>
          <a:p>
            <a:r>
              <a:rPr lang="en-US" dirty="0"/>
              <a:t>Inconvenient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69ADCED5-CED8-4991-9B1E-DB7381BE743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801857" y="5195673"/>
            <a:ext cx="1183179" cy="492025"/>
          </a:xfrm>
        </p:spPr>
        <p:txBody>
          <a:bodyPr/>
          <a:lstStyle/>
          <a:p>
            <a:r>
              <a:rPr lang="en-US" dirty="0"/>
              <a:t>Kortix.AI</a:t>
            </a: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8ADD2DBD-D314-47B1-BD25-DAF6D4437F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C7E0A4-FE8E-4F7B-8370-1FA3484B6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495FC-7E0A-4342-A40D-3B65DCA78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116CCE2-DE5B-4D04-8780-DE09E03B8A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1806" y="2334532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930BF4B-0565-4413-BDB0-116E9B84F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8369" y="4421188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EC73B38-496F-4951-89EB-38E1A77E1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4455" y="4595813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658B547-4844-4FC2-9B4E-C8A8DF4D6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06444" y="4288517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7890BF0-461E-41CE-AFC1-AD52C6B95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55806" y="5157788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Graphic 61">
            <a:extLst>
              <a:ext uri="{FF2B5EF4-FFF2-40B4-BE49-F238E27FC236}">
                <a16:creationId xmlns:a16="http://schemas.microsoft.com/office/drawing/2014/main" id="{283BAD67-B1CF-7337-49CA-D72116060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55840" y="1438702"/>
            <a:ext cx="1519834" cy="1268594"/>
          </a:xfrm>
          <a:custGeom>
            <a:avLst/>
            <a:gdLst>
              <a:gd name="connsiteX0" fmla="*/ 625766 w 1590050"/>
              <a:gd name="connsiteY0" fmla="*/ 178826 h 1315433"/>
              <a:gd name="connsiteX1" fmla="*/ 284934 w 1590050"/>
              <a:gd name="connsiteY1" fmla="*/ 458195 h 1315433"/>
              <a:gd name="connsiteX2" fmla="*/ 236288 w 1590050"/>
              <a:gd name="connsiteY2" fmla="*/ 498087 h 1315433"/>
              <a:gd name="connsiteX3" fmla="*/ 70217 w 1590050"/>
              <a:gd name="connsiteY3" fmla="*/ 843983 h 1315433"/>
              <a:gd name="connsiteX4" fmla="*/ 651339 w 1590050"/>
              <a:gd name="connsiteY4" fmla="*/ 1315434 h 1315433"/>
              <a:gd name="connsiteX5" fmla="*/ 1079209 w 1590050"/>
              <a:gd name="connsiteY5" fmla="*/ 1264350 h 1315433"/>
              <a:gd name="connsiteX6" fmla="*/ 1430420 w 1590050"/>
              <a:gd name="connsiteY6" fmla="*/ 957844 h 1315433"/>
              <a:gd name="connsiteX7" fmla="*/ 1590051 w 1590050"/>
              <a:gd name="connsiteY7" fmla="*/ 536415 h 1315433"/>
              <a:gd name="connsiteX8" fmla="*/ 1277105 w 1590050"/>
              <a:gd name="connsiteY8" fmla="*/ 312883 h 1315433"/>
              <a:gd name="connsiteX9" fmla="*/ 913138 w 1590050"/>
              <a:gd name="connsiteY9" fmla="*/ 134119 h 1315433"/>
              <a:gd name="connsiteX10" fmla="*/ 536415 w 1590050"/>
              <a:gd name="connsiteY10" fmla="*/ 83035 h 1315433"/>
              <a:gd name="connsiteX11" fmla="*/ 191581 w 1590050"/>
              <a:gd name="connsiteY11" fmla="*/ 843983 h 1315433"/>
              <a:gd name="connsiteX12" fmla="*/ 146875 w 1590050"/>
              <a:gd name="connsiteY12" fmla="*/ 1149426 h 1315433"/>
              <a:gd name="connsiteX13" fmla="*/ 1245217 w 1590050"/>
              <a:gd name="connsiteY13" fmla="*/ 1289923 h 1315433"/>
              <a:gd name="connsiteX14" fmla="*/ 1519771 w 1590050"/>
              <a:gd name="connsiteY14" fmla="*/ 344834 h 1315433"/>
              <a:gd name="connsiteX15" fmla="*/ 798214 w 1590050"/>
              <a:gd name="connsiteY15" fmla="*/ 223532 h 1315433"/>
              <a:gd name="connsiteX16" fmla="*/ 0 w 1590050"/>
              <a:gd name="connsiteY16" fmla="*/ 699235 h 1315433"/>
              <a:gd name="connsiteX17" fmla="*/ 434247 w 1590050"/>
              <a:gd name="connsiteY17" fmla="*/ 1315434 h 1315433"/>
              <a:gd name="connsiteX18" fmla="*/ 1468686 w 1590050"/>
              <a:gd name="connsiteY18" fmla="*/ 1091964 h 1315433"/>
              <a:gd name="connsiteX19" fmla="*/ 1155804 w 1590050"/>
              <a:gd name="connsiteY19" fmla="*/ 0 h 1315433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146875 w 1590051"/>
              <a:gd name="connsiteY12" fmla="*/ 114942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344995 w 1590051"/>
              <a:gd name="connsiteY12" fmla="*/ 101988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727997 w 1519834"/>
              <a:gd name="connsiteY15" fmla="*/ 22353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428949 w 1519834"/>
              <a:gd name="connsiteY18" fmla="*/ 9395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64030 w 1519834"/>
              <a:gd name="connsiteY17" fmla="*/ 131543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56410 w 1519834"/>
              <a:gd name="connsiteY17" fmla="*/ 124685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95791 h 1262879"/>
              <a:gd name="connsiteX1" fmla="*/ 214717 w 1519834"/>
              <a:gd name="connsiteY1" fmla="*/ 375160 h 1262879"/>
              <a:gd name="connsiteX2" fmla="*/ 166071 w 1519834"/>
              <a:gd name="connsiteY2" fmla="*/ 415052 h 1262879"/>
              <a:gd name="connsiteX3" fmla="*/ 0 w 1519834"/>
              <a:gd name="connsiteY3" fmla="*/ 760948 h 1262879"/>
              <a:gd name="connsiteX4" fmla="*/ 741142 w 1519834"/>
              <a:gd name="connsiteY4" fmla="*/ 1262879 h 1262879"/>
              <a:gd name="connsiteX5" fmla="*/ 1008992 w 1519834"/>
              <a:gd name="connsiteY5" fmla="*/ 1181315 h 1262879"/>
              <a:gd name="connsiteX6" fmla="*/ 1253523 w 1519834"/>
              <a:gd name="connsiteY6" fmla="*/ 829089 h 1262879"/>
              <a:gd name="connsiteX7" fmla="*/ 1519834 w 1519834"/>
              <a:gd name="connsiteY7" fmla="*/ 453380 h 1262879"/>
              <a:gd name="connsiteX8" fmla="*/ 1206888 w 1519834"/>
              <a:gd name="connsiteY8" fmla="*/ 229848 h 1262879"/>
              <a:gd name="connsiteX9" fmla="*/ 842921 w 1519834"/>
              <a:gd name="connsiteY9" fmla="*/ 51084 h 1262879"/>
              <a:gd name="connsiteX10" fmla="*/ 466198 w 1519834"/>
              <a:gd name="connsiteY10" fmla="*/ 0 h 1262879"/>
              <a:gd name="connsiteX11" fmla="*/ 220424 w 1519834"/>
              <a:gd name="connsiteY11" fmla="*/ 578068 h 1262879"/>
              <a:gd name="connsiteX12" fmla="*/ 274778 w 1519834"/>
              <a:gd name="connsiteY12" fmla="*/ 936851 h 1262879"/>
              <a:gd name="connsiteX13" fmla="*/ 1175000 w 1519834"/>
              <a:gd name="connsiteY13" fmla="*/ 1206888 h 1262879"/>
              <a:gd name="connsiteX14" fmla="*/ 1449554 w 1519834"/>
              <a:gd name="connsiteY14" fmla="*/ 261799 h 1262879"/>
              <a:gd name="connsiteX15" fmla="*/ 331757 w 1519834"/>
              <a:gd name="connsiteY15" fmla="*/ 79537 h 1262879"/>
              <a:gd name="connsiteX16" fmla="*/ 105043 w 1519834"/>
              <a:gd name="connsiteY16" fmla="*/ 639060 h 1262879"/>
              <a:gd name="connsiteX17" fmla="*/ 356410 w 1519834"/>
              <a:gd name="connsiteY17" fmla="*/ 1163819 h 1262879"/>
              <a:gd name="connsiteX18" fmla="*/ 1428949 w 1519834"/>
              <a:gd name="connsiteY18" fmla="*/ 856529 h 1262879"/>
              <a:gd name="connsiteX19" fmla="*/ 1055107 w 1519834"/>
              <a:gd name="connsiteY19" fmla="*/ 61745 h 1262879"/>
              <a:gd name="connsiteX20" fmla="*/ 555549 w 1519834"/>
              <a:gd name="connsiteY20" fmla="*/ 95791 h 1262879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428949 w 1519834"/>
              <a:gd name="connsiteY18" fmla="*/ 85652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203699 w 1519834"/>
              <a:gd name="connsiteY19" fmla="*/ 4892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489449 w 1519834"/>
              <a:gd name="connsiteY19" fmla="*/ 6416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19834" h="1268594">
                <a:moveTo>
                  <a:pt x="555549" y="95791"/>
                </a:moveTo>
                <a:lnTo>
                  <a:pt x="214717" y="375160"/>
                </a:lnTo>
                <a:lnTo>
                  <a:pt x="166071" y="415052"/>
                </a:lnTo>
                <a:lnTo>
                  <a:pt x="0" y="760948"/>
                </a:lnTo>
                <a:lnTo>
                  <a:pt x="741142" y="1262879"/>
                </a:lnTo>
                <a:lnTo>
                  <a:pt x="1008992" y="1181315"/>
                </a:lnTo>
                <a:lnTo>
                  <a:pt x="1253523" y="829089"/>
                </a:lnTo>
                <a:lnTo>
                  <a:pt x="1519834" y="453380"/>
                </a:lnTo>
                <a:lnTo>
                  <a:pt x="1206888" y="229848"/>
                </a:lnTo>
                <a:lnTo>
                  <a:pt x="842921" y="51084"/>
                </a:lnTo>
                <a:lnTo>
                  <a:pt x="466198" y="0"/>
                </a:lnTo>
                <a:lnTo>
                  <a:pt x="220424" y="578068"/>
                </a:lnTo>
                <a:lnTo>
                  <a:pt x="274778" y="936851"/>
                </a:lnTo>
                <a:lnTo>
                  <a:pt x="1175000" y="1206888"/>
                </a:lnTo>
                <a:lnTo>
                  <a:pt x="1449554" y="261799"/>
                </a:lnTo>
                <a:lnTo>
                  <a:pt x="331757" y="79537"/>
                </a:lnTo>
                <a:lnTo>
                  <a:pt x="105043" y="639060"/>
                </a:lnTo>
                <a:lnTo>
                  <a:pt x="489760" y="1268594"/>
                </a:lnTo>
                <a:lnTo>
                  <a:pt x="1371799" y="989879"/>
                </a:lnTo>
                <a:lnTo>
                  <a:pt x="1489449" y="641626"/>
                </a:lnTo>
                <a:lnTo>
                  <a:pt x="1055107" y="61745"/>
                </a:lnTo>
                <a:lnTo>
                  <a:pt x="555549" y="95791"/>
                </a:lnTo>
                <a:close/>
              </a:path>
            </a:pathLst>
          </a:custGeom>
          <a:noFill/>
          <a:ln w="3175" cap="flat">
            <a:solidFill>
              <a:schemeClr val="accent1">
                <a:lumMod val="7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A96FFD99-9742-508D-86C7-A5FAC0FE61C2}"/>
              </a:ext>
            </a:extLst>
          </p:cNvPr>
          <p:cNvSpPr txBox="1">
            <a:spLocks/>
          </p:cNvSpPr>
          <p:nvPr/>
        </p:nvSpPr>
        <p:spPr>
          <a:xfrm>
            <a:off x="4175224" y="5147624"/>
            <a:ext cx="1183179" cy="492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OpenAI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F8C715D-206D-8214-F496-E778E41BE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8954" y="5114353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AA372812-1BE9-6DC1-A911-A006CB36E3F9}"/>
              </a:ext>
            </a:extLst>
          </p:cNvPr>
          <p:cNvSpPr txBox="1">
            <a:spLocks/>
          </p:cNvSpPr>
          <p:nvPr/>
        </p:nvSpPr>
        <p:spPr>
          <a:xfrm>
            <a:off x="6096000" y="3003460"/>
            <a:ext cx="1183179" cy="492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Cursor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75CAF69-0FF1-98E3-D992-4C581E880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49730" y="2970189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25">
            <a:extLst>
              <a:ext uri="{FF2B5EF4-FFF2-40B4-BE49-F238E27FC236}">
                <a16:creationId xmlns:a16="http://schemas.microsoft.com/office/drawing/2014/main" id="{91A8A27E-2697-0FC9-80F4-2EC39F7FEFEF}"/>
              </a:ext>
            </a:extLst>
          </p:cNvPr>
          <p:cNvSpPr txBox="1">
            <a:spLocks/>
          </p:cNvSpPr>
          <p:nvPr/>
        </p:nvSpPr>
        <p:spPr>
          <a:xfrm>
            <a:off x="4368006" y="3093785"/>
            <a:ext cx="1183179" cy="492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Gamma AI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1497F1B-B24D-510C-1F97-A3F6AB0F4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21736" y="3060514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 Placeholder 25">
            <a:extLst>
              <a:ext uri="{FF2B5EF4-FFF2-40B4-BE49-F238E27FC236}">
                <a16:creationId xmlns:a16="http://schemas.microsoft.com/office/drawing/2014/main" id="{46FA7DD6-4B82-B121-DABE-2CA7655846E8}"/>
              </a:ext>
            </a:extLst>
          </p:cNvPr>
          <p:cNvSpPr txBox="1">
            <a:spLocks/>
          </p:cNvSpPr>
          <p:nvPr/>
        </p:nvSpPr>
        <p:spPr>
          <a:xfrm>
            <a:off x="3116271" y="5468790"/>
            <a:ext cx="1183179" cy="4920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50" kern="120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XAI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2E94923-FE4C-5549-4D70-EB9FEB5B8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70001" y="5435519"/>
            <a:ext cx="76200" cy="76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bject 4">
            <a:extLst>
              <a:ext uri="{FF2B5EF4-FFF2-40B4-BE49-F238E27FC236}">
                <a16:creationId xmlns:a16="http://schemas.microsoft.com/office/drawing/2014/main" id="{19B37CC4-6020-F3EB-289E-89BCEB88EB46}"/>
              </a:ext>
            </a:extLst>
          </p:cNvPr>
          <p:cNvSpPr txBox="1"/>
          <p:nvPr/>
        </p:nvSpPr>
        <p:spPr>
          <a:xfrm>
            <a:off x="9177237" y="271672"/>
            <a:ext cx="2844030" cy="285549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7697">
              <a:spcBef>
                <a:spcPts val="67"/>
              </a:spcBef>
              <a:tabLst>
                <a:tab pos="1427496" algn="l"/>
                <a:tab pos="1566435" algn="l"/>
              </a:tabLst>
            </a:pPr>
            <a:r>
              <a:rPr lang="en-US" spc="-6" dirty="0">
                <a:solidFill>
                  <a:srgbClr val="535353"/>
                </a:solidFill>
                <a:latin typeface="Tahoma"/>
                <a:cs typeface="Tahoma"/>
              </a:rPr>
              <a:t>https://www.veriochi</a:t>
            </a:r>
            <a:r>
              <a:rPr spc="-6" dirty="0">
                <a:solidFill>
                  <a:srgbClr val="535353"/>
                </a:solidFill>
                <a:latin typeface="Tahoma"/>
                <a:cs typeface="Tahoma"/>
              </a:rPr>
              <a:t>.</a:t>
            </a:r>
            <a:r>
              <a:rPr lang="en-US" spc="-6" dirty="0">
                <a:solidFill>
                  <a:srgbClr val="535353"/>
                </a:solidFill>
                <a:latin typeface="Tahoma"/>
                <a:cs typeface="Tahoma"/>
              </a:rPr>
              <a:t>com</a:t>
            </a:r>
            <a:r>
              <a:rPr dirty="0">
                <a:solidFill>
                  <a:srgbClr val="535353"/>
                </a:solidFill>
                <a:latin typeface="Tahoma"/>
                <a:cs typeface="Tahoma"/>
              </a:rPr>
              <a:t>	</a:t>
            </a:r>
            <a:endParaRPr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417396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8457E-5203-B596-4180-CD4AE858B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9636C-DF89-61A3-4437-CD73B017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/>
          <a:lstStyle/>
          <a:p>
            <a:r>
              <a:rPr lang="en-US" dirty="0"/>
              <a:t>FUNDING REQUEST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BBCDE-BEB4-9F9B-5C1E-FFD3FBA57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568" y="4103412"/>
            <a:ext cx="3484526" cy="823912"/>
          </a:xfrm>
        </p:spPr>
        <p:txBody>
          <a:bodyPr/>
          <a:lstStyle/>
          <a:p>
            <a:pPr algn="ctr"/>
            <a:r>
              <a:rPr lang="en-US" sz="1800" dirty="0"/>
              <a:t>Cloud Infrastructure Hosting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C63758-514A-53DF-C3D2-02A2F2CCC8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55501" y="4130634"/>
            <a:ext cx="2896671" cy="823912"/>
          </a:xfrm>
        </p:spPr>
        <p:txBody>
          <a:bodyPr/>
          <a:lstStyle/>
          <a:p>
            <a:pPr algn="ctr"/>
            <a:r>
              <a:rPr lang="en-US" sz="1800" dirty="0"/>
              <a:t>Model Inference Credits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D26969-0DF3-FABF-6490-3DB76E48CD1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153400" y="4103412"/>
            <a:ext cx="3018139" cy="8239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1800" dirty="0"/>
              <a:t>Initial Deployment Scale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902330C-EE8D-D05A-5623-EC0999D333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2025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BE30086-7345-3B87-3CB3-AE8E42615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7D29541-7E59-41BD-C03E-678311CDD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2" name="Graphic 61">
            <a:extLst>
              <a:ext uri="{FF2B5EF4-FFF2-40B4-BE49-F238E27FC236}">
                <a16:creationId xmlns:a16="http://schemas.microsoft.com/office/drawing/2014/main" id="{60E0C08E-2024-DDAE-7295-C49464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26154" y="2259834"/>
            <a:ext cx="1931846" cy="1489206"/>
          </a:xfrm>
          <a:custGeom>
            <a:avLst/>
            <a:gdLst>
              <a:gd name="connsiteX0" fmla="*/ 625766 w 1590050"/>
              <a:gd name="connsiteY0" fmla="*/ 178826 h 1315433"/>
              <a:gd name="connsiteX1" fmla="*/ 284934 w 1590050"/>
              <a:gd name="connsiteY1" fmla="*/ 458195 h 1315433"/>
              <a:gd name="connsiteX2" fmla="*/ 236288 w 1590050"/>
              <a:gd name="connsiteY2" fmla="*/ 498087 h 1315433"/>
              <a:gd name="connsiteX3" fmla="*/ 70217 w 1590050"/>
              <a:gd name="connsiteY3" fmla="*/ 843983 h 1315433"/>
              <a:gd name="connsiteX4" fmla="*/ 651339 w 1590050"/>
              <a:gd name="connsiteY4" fmla="*/ 1315434 h 1315433"/>
              <a:gd name="connsiteX5" fmla="*/ 1079209 w 1590050"/>
              <a:gd name="connsiteY5" fmla="*/ 1264350 h 1315433"/>
              <a:gd name="connsiteX6" fmla="*/ 1430420 w 1590050"/>
              <a:gd name="connsiteY6" fmla="*/ 957844 h 1315433"/>
              <a:gd name="connsiteX7" fmla="*/ 1590051 w 1590050"/>
              <a:gd name="connsiteY7" fmla="*/ 536415 h 1315433"/>
              <a:gd name="connsiteX8" fmla="*/ 1277105 w 1590050"/>
              <a:gd name="connsiteY8" fmla="*/ 312883 h 1315433"/>
              <a:gd name="connsiteX9" fmla="*/ 913138 w 1590050"/>
              <a:gd name="connsiteY9" fmla="*/ 134119 h 1315433"/>
              <a:gd name="connsiteX10" fmla="*/ 536415 w 1590050"/>
              <a:gd name="connsiteY10" fmla="*/ 83035 h 1315433"/>
              <a:gd name="connsiteX11" fmla="*/ 191581 w 1590050"/>
              <a:gd name="connsiteY11" fmla="*/ 843983 h 1315433"/>
              <a:gd name="connsiteX12" fmla="*/ 146875 w 1590050"/>
              <a:gd name="connsiteY12" fmla="*/ 1149426 h 1315433"/>
              <a:gd name="connsiteX13" fmla="*/ 1245217 w 1590050"/>
              <a:gd name="connsiteY13" fmla="*/ 1289923 h 1315433"/>
              <a:gd name="connsiteX14" fmla="*/ 1519771 w 1590050"/>
              <a:gd name="connsiteY14" fmla="*/ 344834 h 1315433"/>
              <a:gd name="connsiteX15" fmla="*/ 798214 w 1590050"/>
              <a:gd name="connsiteY15" fmla="*/ 223532 h 1315433"/>
              <a:gd name="connsiteX16" fmla="*/ 0 w 1590050"/>
              <a:gd name="connsiteY16" fmla="*/ 699235 h 1315433"/>
              <a:gd name="connsiteX17" fmla="*/ 434247 w 1590050"/>
              <a:gd name="connsiteY17" fmla="*/ 1315434 h 1315433"/>
              <a:gd name="connsiteX18" fmla="*/ 1468686 w 1590050"/>
              <a:gd name="connsiteY18" fmla="*/ 1091964 h 1315433"/>
              <a:gd name="connsiteX19" fmla="*/ 1155804 w 1590050"/>
              <a:gd name="connsiteY19" fmla="*/ 0 h 1315433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146875 w 1590051"/>
              <a:gd name="connsiteY12" fmla="*/ 114942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625766 w 1590051"/>
              <a:gd name="connsiteY0" fmla="*/ 178826 h 1315434"/>
              <a:gd name="connsiteX1" fmla="*/ 284934 w 1590051"/>
              <a:gd name="connsiteY1" fmla="*/ 458195 h 1315434"/>
              <a:gd name="connsiteX2" fmla="*/ 236288 w 1590051"/>
              <a:gd name="connsiteY2" fmla="*/ 498087 h 1315434"/>
              <a:gd name="connsiteX3" fmla="*/ 70217 w 1590051"/>
              <a:gd name="connsiteY3" fmla="*/ 843983 h 1315434"/>
              <a:gd name="connsiteX4" fmla="*/ 651339 w 1590051"/>
              <a:gd name="connsiteY4" fmla="*/ 1315434 h 1315434"/>
              <a:gd name="connsiteX5" fmla="*/ 1079209 w 1590051"/>
              <a:gd name="connsiteY5" fmla="*/ 1264350 h 1315434"/>
              <a:gd name="connsiteX6" fmla="*/ 1430420 w 1590051"/>
              <a:gd name="connsiteY6" fmla="*/ 957844 h 1315434"/>
              <a:gd name="connsiteX7" fmla="*/ 1590051 w 1590051"/>
              <a:gd name="connsiteY7" fmla="*/ 536415 h 1315434"/>
              <a:gd name="connsiteX8" fmla="*/ 1277105 w 1590051"/>
              <a:gd name="connsiteY8" fmla="*/ 312883 h 1315434"/>
              <a:gd name="connsiteX9" fmla="*/ 913138 w 1590051"/>
              <a:gd name="connsiteY9" fmla="*/ 134119 h 1315434"/>
              <a:gd name="connsiteX10" fmla="*/ 536415 w 1590051"/>
              <a:gd name="connsiteY10" fmla="*/ 83035 h 1315434"/>
              <a:gd name="connsiteX11" fmla="*/ 290641 w 1590051"/>
              <a:gd name="connsiteY11" fmla="*/ 661103 h 1315434"/>
              <a:gd name="connsiteX12" fmla="*/ 344995 w 1590051"/>
              <a:gd name="connsiteY12" fmla="*/ 1019886 h 1315434"/>
              <a:gd name="connsiteX13" fmla="*/ 1245217 w 1590051"/>
              <a:gd name="connsiteY13" fmla="*/ 1289923 h 1315434"/>
              <a:gd name="connsiteX14" fmla="*/ 1519771 w 1590051"/>
              <a:gd name="connsiteY14" fmla="*/ 344834 h 1315434"/>
              <a:gd name="connsiteX15" fmla="*/ 798214 w 1590051"/>
              <a:gd name="connsiteY15" fmla="*/ 223532 h 1315434"/>
              <a:gd name="connsiteX16" fmla="*/ 0 w 1590051"/>
              <a:gd name="connsiteY16" fmla="*/ 699235 h 1315434"/>
              <a:gd name="connsiteX17" fmla="*/ 434247 w 1590051"/>
              <a:gd name="connsiteY17" fmla="*/ 1315434 h 1315434"/>
              <a:gd name="connsiteX18" fmla="*/ 1468686 w 1590051"/>
              <a:gd name="connsiteY18" fmla="*/ 1091964 h 1315434"/>
              <a:gd name="connsiteX19" fmla="*/ 1155804 w 1590051"/>
              <a:gd name="connsiteY19" fmla="*/ 0 h 1315434"/>
              <a:gd name="connsiteX20" fmla="*/ 625766 w 1590051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727997 w 1519834"/>
              <a:gd name="connsiteY15" fmla="*/ 22353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360203 w 1519834"/>
              <a:gd name="connsiteY6" fmla="*/ 95784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398469 w 1519834"/>
              <a:gd name="connsiteY18" fmla="*/ 10919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15434"/>
              <a:gd name="connsiteX1" fmla="*/ 214717 w 1519834"/>
              <a:gd name="connsiteY1" fmla="*/ 458195 h 1315434"/>
              <a:gd name="connsiteX2" fmla="*/ 166071 w 1519834"/>
              <a:gd name="connsiteY2" fmla="*/ 498087 h 1315434"/>
              <a:gd name="connsiteX3" fmla="*/ 0 w 1519834"/>
              <a:gd name="connsiteY3" fmla="*/ 843983 h 1315434"/>
              <a:gd name="connsiteX4" fmla="*/ 581122 w 1519834"/>
              <a:gd name="connsiteY4" fmla="*/ 1315434 h 1315434"/>
              <a:gd name="connsiteX5" fmla="*/ 1008992 w 1519834"/>
              <a:gd name="connsiteY5" fmla="*/ 1264350 h 1315434"/>
              <a:gd name="connsiteX6" fmla="*/ 1253523 w 1519834"/>
              <a:gd name="connsiteY6" fmla="*/ 912124 h 1315434"/>
              <a:gd name="connsiteX7" fmla="*/ 1519834 w 1519834"/>
              <a:gd name="connsiteY7" fmla="*/ 536415 h 1315434"/>
              <a:gd name="connsiteX8" fmla="*/ 1206888 w 1519834"/>
              <a:gd name="connsiteY8" fmla="*/ 312883 h 1315434"/>
              <a:gd name="connsiteX9" fmla="*/ 842921 w 1519834"/>
              <a:gd name="connsiteY9" fmla="*/ 134119 h 1315434"/>
              <a:gd name="connsiteX10" fmla="*/ 466198 w 1519834"/>
              <a:gd name="connsiteY10" fmla="*/ 83035 h 1315434"/>
              <a:gd name="connsiteX11" fmla="*/ 220424 w 1519834"/>
              <a:gd name="connsiteY11" fmla="*/ 661103 h 1315434"/>
              <a:gd name="connsiteX12" fmla="*/ 274778 w 1519834"/>
              <a:gd name="connsiteY12" fmla="*/ 1019886 h 1315434"/>
              <a:gd name="connsiteX13" fmla="*/ 1175000 w 1519834"/>
              <a:gd name="connsiteY13" fmla="*/ 1289923 h 1315434"/>
              <a:gd name="connsiteX14" fmla="*/ 1449554 w 1519834"/>
              <a:gd name="connsiteY14" fmla="*/ 344834 h 1315434"/>
              <a:gd name="connsiteX15" fmla="*/ 331757 w 1519834"/>
              <a:gd name="connsiteY15" fmla="*/ 162572 h 1315434"/>
              <a:gd name="connsiteX16" fmla="*/ 105043 w 1519834"/>
              <a:gd name="connsiteY16" fmla="*/ 722095 h 1315434"/>
              <a:gd name="connsiteX17" fmla="*/ 364030 w 1519834"/>
              <a:gd name="connsiteY17" fmla="*/ 1315434 h 1315434"/>
              <a:gd name="connsiteX18" fmla="*/ 1428949 w 1519834"/>
              <a:gd name="connsiteY18" fmla="*/ 939564 h 1315434"/>
              <a:gd name="connsiteX19" fmla="*/ 1085587 w 1519834"/>
              <a:gd name="connsiteY19" fmla="*/ 0 h 1315434"/>
              <a:gd name="connsiteX20" fmla="*/ 555549 w 1519834"/>
              <a:gd name="connsiteY20" fmla="*/ 178826 h 131543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64030 w 1519834"/>
              <a:gd name="connsiteY17" fmla="*/ 131543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178826 h 1345914"/>
              <a:gd name="connsiteX1" fmla="*/ 214717 w 1519834"/>
              <a:gd name="connsiteY1" fmla="*/ 458195 h 1345914"/>
              <a:gd name="connsiteX2" fmla="*/ 166071 w 1519834"/>
              <a:gd name="connsiteY2" fmla="*/ 498087 h 1345914"/>
              <a:gd name="connsiteX3" fmla="*/ 0 w 1519834"/>
              <a:gd name="connsiteY3" fmla="*/ 843983 h 1345914"/>
              <a:gd name="connsiteX4" fmla="*/ 741142 w 1519834"/>
              <a:gd name="connsiteY4" fmla="*/ 1345914 h 1345914"/>
              <a:gd name="connsiteX5" fmla="*/ 1008992 w 1519834"/>
              <a:gd name="connsiteY5" fmla="*/ 1264350 h 1345914"/>
              <a:gd name="connsiteX6" fmla="*/ 1253523 w 1519834"/>
              <a:gd name="connsiteY6" fmla="*/ 912124 h 1345914"/>
              <a:gd name="connsiteX7" fmla="*/ 1519834 w 1519834"/>
              <a:gd name="connsiteY7" fmla="*/ 536415 h 1345914"/>
              <a:gd name="connsiteX8" fmla="*/ 1206888 w 1519834"/>
              <a:gd name="connsiteY8" fmla="*/ 312883 h 1345914"/>
              <a:gd name="connsiteX9" fmla="*/ 842921 w 1519834"/>
              <a:gd name="connsiteY9" fmla="*/ 134119 h 1345914"/>
              <a:gd name="connsiteX10" fmla="*/ 466198 w 1519834"/>
              <a:gd name="connsiteY10" fmla="*/ 83035 h 1345914"/>
              <a:gd name="connsiteX11" fmla="*/ 220424 w 1519834"/>
              <a:gd name="connsiteY11" fmla="*/ 661103 h 1345914"/>
              <a:gd name="connsiteX12" fmla="*/ 274778 w 1519834"/>
              <a:gd name="connsiteY12" fmla="*/ 1019886 h 1345914"/>
              <a:gd name="connsiteX13" fmla="*/ 1175000 w 1519834"/>
              <a:gd name="connsiteY13" fmla="*/ 1289923 h 1345914"/>
              <a:gd name="connsiteX14" fmla="*/ 1449554 w 1519834"/>
              <a:gd name="connsiteY14" fmla="*/ 344834 h 1345914"/>
              <a:gd name="connsiteX15" fmla="*/ 331757 w 1519834"/>
              <a:gd name="connsiteY15" fmla="*/ 162572 h 1345914"/>
              <a:gd name="connsiteX16" fmla="*/ 105043 w 1519834"/>
              <a:gd name="connsiteY16" fmla="*/ 722095 h 1345914"/>
              <a:gd name="connsiteX17" fmla="*/ 356410 w 1519834"/>
              <a:gd name="connsiteY17" fmla="*/ 1246854 h 1345914"/>
              <a:gd name="connsiteX18" fmla="*/ 1428949 w 1519834"/>
              <a:gd name="connsiteY18" fmla="*/ 939564 h 1345914"/>
              <a:gd name="connsiteX19" fmla="*/ 1085587 w 1519834"/>
              <a:gd name="connsiteY19" fmla="*/ 0 h 1345914"/>
              <a:gd name="connsiteX20" fmla="*/ 555549 w 1519834"/>
              <a:gd name="connsiteY20" fmla="*/ 178826 h 1345914"/>
              <a:gd name="connsiteX0" fmla="*/ 555549 w 1519834"/>
              <a:gd name="connsiteY0" fmla="*/ 95791 h 1262879"/>
              <a:gd name="connsiteX1" fmla="*/ 214717 w 1519834"/>
              <a:gd name="connsiteY1" fmla="*/ 375160 h 1262879"/>
              <a:gd name="connsiteX2" fmla="*/ 166071 w 1519834"/>
              <a:gd name="connsiteY2" fmla="*/ 415052 h 1262879"/>
              <a:gd name="connsiteX3" fmla="*/ 0 w 1519834"/>
              <a:gd name="connsiteY3" fmla="*/ 760948 h 1262879"/>
              <a:gd name="connsiteX4" fmla="*/ 741142 w 1519834"/>
              <a:gd name="connsiteY4" fmla="*/ 1262879 h 1262879"/>
              <a:gd name="connsiteX5" fmla="*/ 1008992 w 1519834"/>
              <a:gd name="connsiteY5" fmla="*/ 1181315 h 1262879"/>
              <a:gd name="connsiteX6" fmla="*/ 1253523 w 1519834"/>
              <a:gd name="connsiteY6" fmla="*/ 829089 h 1262879"/>
              <a:gd name="connsiteX7" fmla="*/ 1519834 w 1519834"/>
              <a:gd name="connsiteY7" fmla="*/ 453380 h 1262879"/>
              <a:gd name="connsiteX8" fmla="*/ 1206888 w 1519834"/>
              <a:gd name="connsiteY8" fmla="*/ 229848 h 1262879"/>
              <a:gd name="connsiteX9" fmla="*/ 842921 w 1519834"/>
              <a:gd name="connsiteY9" fmla="*/ 51084 h 1262879"/>
              <a:gd name="connsiteX10" fmla="*/ 466198 w 1519834"/>
              <a:gd name="connsiteY10" fmla="*/ 0 h 1262879"/>
              <a:gd name="connsiteX11" fmla="*/ 220424 w 1519834"/>
              <a:gd name="connsiteY11" fmla="*/ 578068 h 1262879"/>
              <a:gd name="connsiteX12" fmla="*/ 274778 w 1519834"/>
              <a:gd name="connsiteY12" fmla="*/ 936851 h 1262879"/>
              <a:gd name="connsiteX13" fmla="*/ 1175000 w 1519834"/>
              <a:gd name="connsiteY13" fmla="*/ 1206888 h 1262879"/>
              <a:gd name="connsiteX14" fmla="*/ 1449554 w 1519834"/>
              <a:gd name="connsiteY14" fmla="*/ 261799 h 1262879"/>
              <a:gd name="connsiteX15" fmla="*/ 331757 w 1519834"/>
              <a:gd name="connsiteY15" fmla="*/ 79537 h 1262879"/>
              <a:gd name="connsiteX16" fmla="*/ 105043 w 1519834"/>
              <a:gd name="connsiteY16" fmla="*/ 639060 h 1262879"/>
              <a:gd name="connsiteX17" fmla="*/ 356410 w 1519834"/>
              <a:gd name="connsiteY17" fmla="*/ 1163819 h 1262879"/>
              <a:gd name="connsiteX18" fmla="*/ 1428949 w 1519834"/>
              <a:gd name="connsiteY18" fmla="*/ 856529 h 1262879"/>
              <a:gd name="connsiteX19" fmla="*/ 1055107 w 1519834"/>
              <a:gd name="connsiteY19" fmla="*/ 61745 h 1262879"/>
              <a:gd name="connsiteX20" fmla="*/ 555549 w 1519834"/>
              <a:gd name="connsiteY20" fmla="*/ 95791 h 1262879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428949 w 1519834"/>
              <a:gd name="connsiteY18" fmla="*/ 85652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055107 w 1519834"/>
              <a:gd name="connsiteY19" fmla="*/ 61745 h 1268594"/>
              <a:gd name="connsiteX20" fmla="*/ 555549 w 1519834"/>
              <a:gd name="connsiteY20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203699 w 1519834"/>
              <a:gd name="connsiteY19" fmla="*/ 4892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  <a:gd name="connsiteX0" fmla="*/ 555549 w 1519834"/>
              <a:gd name="connsiteY0" fmla="*/ 95791 h 1268594"/>
              <a:gd name="connsiteX1" fmla="*/ 214717 w 1519834"/>
              <a:gd name="connsiteY1" fmla="*/ 375160 h 1268594"/>
              <a:gd name="connsiteX2" fmla="*/ 166071 w 1519834"/>
              <a:gd name="connsiteY2" fmla="*/ 415052 h 1268594"/>
              <a:gd name="connsiteX3" fmla="*/ 0 w 1519834"/>
              <a:gd name="connsiteY3" fmla="*/ 760948 h 1268594"/>
              <a:gd name="connsiteX4" fmla="*/ 741142 w 1519834"/>
              <a:gd name="connsiteY4" fmla="*/ 1262879 h 1268594"/>
              <a:gd name="connsiteX5" fmla="*/ 1008992 w 1519834"/>
              <a:gd name="connsiteY5" fmla="*/ 1181315 h 1268594"/>
              <a:gd name="connsiteX6" fmla="*/ 1253523 w 1519834"/>
              <a:gd name="connsiteY6" fmla="*/ 829089 h 1268594"/>
              <a:gd name="connsiteX7" fmla="*/ 1519834 w 1519834"/>
              <a:gd name="connsiteY7" fmla="*/ 453380 h 1268594"/>
              <a:gd name="connsiteX8" fmla="*/ 1206888 w 1519834"/>
              <a:gd name="connsiteY8" fmla="*/ 229848 h 1268594"/>
              <a:gd name="connsiteX9" fmla="*/ 842921 w 1519834"/>
              <a:gd name="connsiteY9" fmla="*/ 51084 h 1268594"/>
              <a:gd name="connsiteX10" fmla="*/ 466198 w 1519834"/>
              <a:gd name="connsiteY10" fmla="*/ 0 h 1268594"/>
              <a:gd name="connsiteX11" fmla="*/ 220424 w 1519834"/>
              <a:gd name="connsiteY11" fmla="*/ 578068 h 1268594"/>
              <a:gd name="connsiteX12" fmla="*/ 274778 w 1519834"/>
              <a:gd name="connsiteY12" fmla="*/ 936851 h 1268594"/>
              <a:gd name="connsiteX13" fmla="*/ 1175000 w 1519834"/>
              <a:gd name="connsiteY13" fmla="*/ 1206888 h 1268594"/>
              <a:gd name="connsiteX14" fmla="*/ 1449554 w 1519834"/>
              <a:gd name="connsiteY14" fmla="*/ 261799 h 1268594"/>
              <a:gd name="connsiteX15" fmla="*/ 331757 w 1519834"/>
              <a:gd name="connsiteY15" fmla="*/ 79537 h 1268594"/>
              <a:gd name="connsiteX16" fmla="*/ 105043 w 1519834"/>
              <a:gd name="connsiteY16" fmla="*/ 639060 h 1268594"/>
              <a:gd name="connsiteX17" fmla="*/ 489760 w 1519834"/>
              <a:gd name="connsiteY17" fmla="*/ 1268594 h 1268594"/>
              <a:gd name="connsiteX18" fmla="*/ 1371799 w 1519834"/>
              <a:gd name="connsiteY18" fmla="*/ 989879 h 1268594"/>
              <a:gd name="connsiteX19" fmla="*/ 1489449 w 1519834"/>
              <a:gd name="connsiteY19" fmla="*/ 641626 h 1268594"/>
              <a:gd name="connsiteX20" fmla="*/ 1055107 w 1519834"/>
              <a:gd name="connsiteY20" fmla="*/ 61745 h 1268594"/>
              <a:gd name="connsiteX21" fmla="*/ 555549 w 1519834"/>
              <a:gd name="connsiteY21" fmla="*/ 95791 h 1268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19834" h="1268594">
                <a:moveTo>
                  <a:pt x="555549" y="95791"/>
                </a:moveTo>
                <a:lnTo>
                  <a:pt x="214717" y="375160"/>
                </a:lnTo>
                <a:lnTo>
                  <a:pt x="166071" y="415052"/>
                </a:lnTo>
                <a:lnTo>
                  <a:pt x="0" y="760948"/>
                </a:lnTo>
                <a:lnTo>
                  <a:pt x="741142" y="1262879"/>
                </a:lnTo>
                <a:lnTo>
                  <a:pt x="1008992" y="1181315"/>
                </a:lnTo>
                <a:lnTo>
                  <a:pt x="1253523" y="829089"/>
                </a:lnTo>
                <a:lnTo>
                  <a:pt x="1519834" y="453380"/>
                </a:lnTo>
                <a:lnTo>
                  <a:pt x="1206888" y="229848"/>
                </a:lnTo>
                <a:lnTo>
                  <a:pt x="842921" y="51084"/>
                </a:lnTo>
                <a:lnTo>
                  <a:pt x="466198" y="0"/>
                </a:lnTo>
                <a:lnTo>
                  <a:pt x="220424" y="578068"/>
                </a:lnTo>
                <a:lnTo>
                  <a:pt x="274778" y="936851"/>
                </a:lnTo>
                <a:lnTo>
                  <a:pt x="1175000" y="1206888"/>
                </a:lnTo>
                <a:lnTo>
                  <a:pt x="1449554" y="261799"/>
                </a:lnTo>
                <a:lnTo>
                  <a:pt x="331757" y="79537"/>
                </a:lnTo>
                <a:lnTo>
                  <a:pt x="105043" y="639060"/>
                </a:lnTo>
                <a:lnTo>
                  <a:pt x="489760" y="1268594"/>
                </a:lnTo>
                <a:lnTo>
                  <a:pt x="1371799" y="989879"/>
                </a:lnTo>
                <a:lnTo>
                  <a:pt x="1489449" y="641626"/>
                </a:lnTo>
                <a:lnTo>
                  <a:pt x="1055107" y="61745"/>
                </a:lnTo>
                <a:lnTo>
                  <a:pt x="555549" y="95791"/>
                </a:lnTo>
                <a:close/>
              </a:path>
            </a:pathLst>
          </a:custGeom>
          <a:noFill/>
          <a:ln w="3175" cap="flat">
            <a:solidFill>
              <a:schemeClr val="accent1">
                <a:lumMod val="7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1365F958-BDE9-F620-FCEA-4941467E8541}"/>
              </a:ext>
            </a:extLst>
          </p:cNvPr>
          <p:cNvSpPr txBox="1">
            <a:spLocks/>
          </p:cNvSpPr>
          <p:nvPr/>
        </p:nvSpPr>
        <p:spPr>
          <a:xfrm>
            <a:off x="5411023" y="2761061"/>
            <a:ext cx="1240971" cy="8239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$6,000</a:t>
            </a:r>
          </a:p>
        </p:txBody>
      </p:sp>
      <p:sp>
        <p:nvSpPr>
          <p:cNvPr id="20" name="object 4">
            <a:extLst>
              <a:ext uri="{FF2B5EF4-FFF2-40B4-BE49-F238E27FC236}">
                <a16:creationId xmlns:a16="http://schemas.microsoft.com/office/drawing/2014/main" id="{CBA40600-9DF3-2396-836A-A12771BD3B1B}"/>
              </a:ext>
            </a:extLst>
          </p:cNvPr>
          <p:cNvSpPr txBox="1"/>
          <p:nvPr/>
        </p:nvSpPr>
        <p:spPr>
          <a:xfrm>
            <a:off x="9177237" y="271672"/>
            <a:ext cx="2844030" cy="285549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7697">
              <a:spcBef>
                <a:spcPts val="67"/>
              </a:spcBef>
              <a:tabLst>
                <a:tab pos="1427496" algn="l"/>
                <a:tab pos="1566435" algn="l"/>
              </a:tabLst>
            </a:pPr>
            <a:r>
              <a:rPr lang="en-US" spc="-6" dirty="0">
                <a:solidFill>
                  <a:srgbClr val="535353"/>
                </a:solidFill>
                <a:latin typeface="Tahoma"/>
                <a:cs typeface="Tahoma"/>
              </a:rPr>
              <a:t>https://www.veriochi</a:t>
            </a:r>
            <a:r>
              <a:rPr spc="-6" dirty="0">
                <a:solidFill>
                  <a:srgbClr val="535353"/>
                </a:solidFill>
                <a:latin typeface="Tahoma"/>
                <a:cs typeface="Tahoma"/>
              </a:rPr>
              <a:t>.</a:t>
            </a:r>
            <a:r>
              <a:rPr lang="en-US" spc="-6" dirty="0">
                <a:solidFill>
                  <a:srgbClr val="535353"/>
                </a:solidFill>
                <a:latin typeface="Tahoma"/>
                <a:cs typeface="Tahoma"/>
              </a:rPr>
              <a:t>com</a:t>
            </a:r>
            <a:r>
              <a:rPr dirty="0">
                <a:solidFill>
                  <a:srgbClr val="535353"/>
                </a:solidFill>
                <a:latin typeface="Tahoma"/>
                <a:cs typeface="Tahoma"/>
              </a:rPr>
              <a:t>	</a:t>
            </a:r>
            <a:endParaRPr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90989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84294-49A0-4C63-A7D7-E3BF9E591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ONE-YEAR ACTION PLAN</a:t>
            </a:r>
          </a:p>
        </p:txBody>
      </p:sp>
      <p:sp>
        <p:nvSpPr>
          <p:cNvPr id="110" name="Text Placeholder 31">
            <a:extLst>
              <a:ext uri="{FF2B5EF4-FFF2-40B4-BE49-F238E27FC236}">
                <a16:creationId xmlns:a16="http://schemas.microsoft.com/office/drawing/2014/main" id="{2FF506C9-7C92-4B9C-A356-9B519D03C78D}"/>
              </a:ext>
            </a:extLst>
          </p:cNvPr>
          <p:cNvSpPr txBox="1">
            <a:spLocks/>
          </p:cNvSpPr>
          <p:nvPr/>
        </p:nvSpPr>
        <p:spPr>
          <a:xfrm>
            <a:off x="2230168" y="2220913"/>
            <a:ext cx="1681432" cy="5619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1400" spc="150" dirty="0"/>
              <a:t>TEST MVP</a:t>
            </a:r>
            <a:endParaRPr lang="en-US" sz="1400" dirty="0"/>
          </a:p>
        </p:txBody>
      </p:sp>
      <p:sp>
        <p:nvSpPr>
          <p:cNvPr id="52" name="Text Placeholder 31">
            <a:extLst>
              <a:ext uri="{FF2B5EF4-FFF2-40B4-BE49-F238E27FC236}">
                <a16:creationId xmlns:a16="http://schemas.microsoft.com/office/drawing/2014/main" id="{EFC30FAC-E9E5-427E-B670-7978BE575652}"/>
              </a:ext>
            </a:extLst>
          </p:cNvPr>
          <p:cNvSpPr txBox="1">
            <a:spLocks/>
          </p:cNvSpPr>
          <p:nvPr/>
        </p:nvSpPr>
        <p:spPr>
          <a:xfrm>
            <a:off x="3847756" y="2330234"/>
            <a:ext cx="2057804" cy="561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400" spc="150" dirty="0">
                <a:latin typeface="+mj-lt"/>
                <a:ea typeface="+mj-ea"/>
                <a:cs typeface="+mj-cs"/>
              </a:rPr>
              <a:t>PRODUCT LAUNCH</a:t>
            </a:r>
            <a:endParaRPr lang="en-US" sz="1100" dirty="0"/>
          </a:p>
        </p:txBody>
      </p:sp>
      <p:sp>
        <p:nvSpPr>
          <p:cNvPr id="54" name="Text Placeholder 31">
            <a:extLst>
              <a:ext uri="{FF2B5EF4-FFF2-40B4-BE49-F238E27FC236}">
                <a16:creationId xmlns:a16="http://schemas.microsoft.com/office/drawing/2014/main" id="{E0CD2DAB-9E42-4D11-A98D-56ECD20DBC7E}"/>
              </a:ext>
            </a:extLst>
          </p:cNvPr>
          <p:cNvSpPr txBox="1">
            <a:spLocks/>
          </p:cNvSpPr>
          <p:nvPr/>
        </p:nvSpPr>
        <p:spPr>
          <a:xfrm>
            <a:off x="9121117" y="2222398"/>
            <a:ext cx="2057804" cy="561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400" spc="150" dirty="0">
                <a:latin typeface="+mj-lt"/>
                <a:ea typeface="+mj-ea"/>
                <a:cs typeface="+mj-cs"/>
              </a:rPr>
              <a:t>FUNDING ROUND</a:t>
            </a:r>
            <a:endParaRPr lang="en-US" sz="11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6861FF3-B902-4DEC-B46D-0F2E499C51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14399" y="3354712"/>
            <a:ext cx="731520" cy="457200"/>
          </a:xfrm>
        </p:spPr>
        <p:txBody>
          <a:bodyPr>
            <a:normAutofit/>
          </a:bodyPr>
          <a:lstStyle/>
          <a:p>
            <a:r>
              <a:rPr lang="en-US" dirty="0"/>
              <a:t>2026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941AA2-C85B-41A7-9264-A0C66F32930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965960" y="3502152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JAN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C4BD3D3-C7A9-46F1-8ED8-AB8D1BB8926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2753880" y="3502152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FEB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73EDDDB-6509-4407-BA35-232AAF9F198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541800" y="3502152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MAR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33A061F-AC2A-4E3F-B448-DC6FEC307A5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329720" y="3502152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APR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C81818-8260-4E49-9FCC-569FDE30B0B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117640" y="3502152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MAY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1FD068B-6917-4C40-B40D-5F7B670EA7B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905560" y="3502152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JUN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E71AD-30AF-4021-B577-B686EC6DA329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693480" y="3502152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JUL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8E5FFBE-125E-43C8-A66E-DE8D2FE7AF3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481400" y="3502152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AUG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209F81D-5EC6-4D97-B0C2-AC00081AB1A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269320" y="3502152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SEP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A477EE3-A17C-4158-91E8-03A401BE96C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057240" y="3502152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OCT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477818B-3CAB-4A39-939D-99E98D2EE68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845160" y="3502152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NOV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7907FC8-DAAF-4896-A2B1-C173BF2FAE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633085" y="3502152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DEC</a:t>
            </a:r>
          </a:p>
        </p:txBody>
      </p:sp>
      <p:sp>
        <p:nvSpPr>
          <p:cNvPr id="11" name="Year">
            <a:extLst>
              <a:ext uri="{FF2B5EF4-FFF2-40B4-BE49-F238E27FC236}">
                <a16:creationId xmlns:a16="http://schemas.microsoft.com/office/drawing/2014/main" id="{44D29552-2F85-4F4F-9B7F-B79798681FB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14400" y="4292468"/>
            <a:ext cx="731520" cy="457200"/>
          </a:xfrm>
        </p:spPr>
        <p:txBody>
          <a:bodyPr>
            <a:normAutofit/>
          </a:bodyPr>
          <a:lstStyle/>
          <a:p>
            <a:r>
              <a:rPr lang="en-US" dirty="0"/>
              <a:t>2025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EC65619-A68A-4D21-9D17-40F8692EF19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69915" y="4425696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JAN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9C4CCA5-A2BE-4897-994D-9B1669D69FD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757602" y="4425696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FEB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C5FD452-DC3E-4D62-B19B-0A79E604A8A8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3545289" y="4425696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MAR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96D290B2-F312-4D9A-96C7-D40523406AC5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332976" y="4425696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APR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80E52477-0BA9-471B-B2C2-F1A03FCF188F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120663" y="4425696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MAY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70D1D022-03FA-47E6-8430-252C6D5B4C4E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908350" y="4425696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JUN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A7483FC-7290-41B1-B371-ECA1174519DE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696037" y="4425696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JUL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49E385-DCE9-4DC9-8F0A-F8BAF02D9797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7483724" y="4425696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AUG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B7A506EE-32D5-4685-97A6-8FDFEF238C43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8271411" y="4425696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SEP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1787EDAC-5EAB-4A0D-9BD2-D6E9FD0B26A1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9059098" y="4425696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OCT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E80CB353-63CA-4305-9748-807B6905DBFF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9846785" y="4425696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NOV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B52C010-5159-4F61-821F-E73647E7C066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10634472" y="4425696"/>
            <a:ext cx="640080" cy="20177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DEC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AAE5EC1-092E-4A01-B866-C63F654AC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3073920" y="2904543"/>
            <a:ext cx="3722" cy="5334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44DC497-37D3-454C-98C5-A4A1043E5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4648515" y="2899919"/>
            <a:ext cx="6667" cy="538024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F3C6EDC-B2DD-42F0-911D-04963A0F2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10150019" y="2905616"/>
            <a:ext cx="0" cy="532327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3FBB4508-2CA6-4A49-9EAD-91DB1B205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14179" y="3437943"/>
            <a:ext cx="526925" cy="27492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8989049-2208-43EB-A323-1B5374E0A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91719" y="3437943"/>
            <a:ext cx="526925" cy="27492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3093EB5-1D82-4E0B-A4EF-8517FC047E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86556" y="3437943"/>
            <a:ext cx="526925" cy="27492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Text Placeholder 31">
            <a:extLst>
              <a:ext uri="{FF2B5EF4-FFF2-40B4-BE49-F238E27FC236}">
                <a16:creationId xmlns:a16="http://schemas.microsoft.com/office/drawing/2014/main" id="{7C5F4630-959D-43D6-A6F0-5D5F3A4117C1}"/>
              </a:ext>
            </a:extLst>
          </p:cNvPr>
          <p:cNvSpPr txBox="1">
            <a:spLocks/>
          </p:cNvSpPr>
          <p:nvPr/>
        </p:nvSpPr>
        <p:spPr>
          <a:xfrm>
            <a:off x="8427436" y="5194317"/>
            <a:ext cx="2057804" cy="561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1400" spc="150" dirty="0">
                <a:latin typeface="+mj-lt"/>
                <a:ea typeface="+mj-ea"/>
                <a:cs typeface="+mj-cs"/>
              </a:rPr>
              <a:t>BUILD PROTOTYPE</a:t>
            </a:r>
            <a:endParaRPr lang="en-US" sz="1100" dirty="0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6C72AC5-2842-4966-BBE7-6F407A9C3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9376040" y="4618355"/>
            <a:ext cx="0" cy="537881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082DCB52-65FA-4B5F-8785-060AF61C3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12577" y="4343427"/>
            <a:ext cx="526925" cy="27492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Date Placeholder 65">
            <a:extLst>
              <a:ext uri="{FF2B5EF4-FFF2-40B4-BE49-F238E27FC236}">
                <a16:creationId xmlns:a16="http://schemas.microsoft.com/office/drawing/2014/main" id="{FF303B66-BE3D-4142-824A-9EE2B0172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35BD6B-402B-4987-9FCE-9A6924EE2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9ECD5-0EAD-48D0-B30B-16305BC10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87509F2C-C280-CC07-2EBD-C5DE746650D8}"/>
              </a:ext>
            </a:extLst>
          </p:cNvPr>
          <p:cNvSpPr txBox="1"/>
          <p:nvPr/>
        </p:nvSpPr>
        <p:spPr>
          <a:xfrm>
            <a:off x="9177237" y="271672"/>
            <a:ext cx="2844030" cy="285549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7697">
              <a:spcBef>
                <a:spcPts val="67"/>
              </a:spcBef>
              <a:tabLst>
                <a:tab pos="1427496" algn="l"/>
                <a:tab pos="1566435" algn="l"/>
              </a:tabLst>
            </a:pPr>
            <a:r>
              <a:rPr lang="en-US" spc="-6" dirty="0">
                <a:solidFill>
                  <a:srgbClr val="535353"/>
                </a:solidFill>
                <a:latin typeface="Tahoma"/>
                <a:cs typeface="Tahoma"/>
              </a:rPr>
              <a:t>https://www.veriochi</a:t>
            </a:r>
            <a:r>
              <a:rPr spc="-6" dirty="0">
                <a:solidFill>
                  <a:srgbClr val="535353"/>
                </a:solidFill>
                <a:latin typeface="Tahoma"/>
                <a:cs typeface="Tahoma"/>
              </a:rPr>
              <a:t>.</a:t>
            </a:r>
            <a:r>
              <a:rPr lang="en-US" spc="-6" dirty="0">
                <a:solidFill>
                  <a:srgbClr val="535353"/>
                </a:solidFill>
                <a:latin typeface="Tahoma"/>
                <a:cs typeface="Tahoma"/>
              </a:rPr>
              <a:t>com</a:t>
            </a:r>
            <a:r>
              <a:rPr dirty="0">
                <a:solidFill>
                  <a:srgbClr val="535353"/>
                </a:solidFill>
                <a:latin typeface="Tahoma"/>
                <a:cs typeface="Tahoma"/>
              </a:rPr>
              <a:t>	</a:t>
            </a:r>
            <a:endParaRPr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084972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6F7BB-30A8-4980-AD4A-2FB0B53F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/>
          <a:lstStyle/>
          <a:p>
            <a:r>
              <a:rPr lang="en-US" dirty="0"/>
              <a:t>MEET THE TEAM</a:t>
            </a:r>
          </a:p>
        </p:txBody>
      </p:sp>
      <p:pic>
        <p:nvPicPr>
          <p:cNvPr id="47" name="Picture Placeholder 46" descr="Team member headshot">
            <a:extLst>
              <a:ext uri="{FF2B5EF4-FFF2-40B4-BE49-F238E27FC236}">
                <a16:creationId xmlns:a16="http://schemas.microsoft.com/office/drawing/2014/main" id="{8AF5260A-2860-4F88-BA4D-70530D3E14A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36914" y="2886074"/>
            <a:ext cx="1845511" cy="1845511"/>
          </a:xfrm>
        </p:spPr>
      </p:pic>
      <p:pic>
        <p:nvPicPr>
          <p:cNvPr id="45" name="Picture Placeholder 44" descr="Team member headshot">
            <a:extLst>
              <a:ext uri="{FF2B5EF4-FFF2-40B4-BE49-F238E27FC236}">
                <a16:creationId xmlns:a16="http://schemas.microsoft.com/office/drawing/2014/main" id="{4442FA67-BF04-4E45-BFD9-78BF43789E09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7578" y="2886074"/>
            <a:ext cx="1845511" cy="1845511"/>
          </a:xfrm>
        </p:spPr>
      </p:pic>
      <p:pic>
        <p:nvPicPr>
          <p:cNvPr id="43" name="Picture Placeholder 42" descr="Team member headshot">
            <a:extLst>
              <a:ext uri="{FF2B5EF4-FFF2-40B4-BE49-F238E27FC236}">
                <a16:creationId xmlns:a16="http://schemas.microsoft.com/office/drawing/2014/main" id="{F328CD15-EA0E-49AD-A3C6-5798A372AA53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47458" y="2886074"/>
            <a:ext cx="1845511" cy="1845511"/>
          </a:xfrm>
        </p:spPr>
      </p:pic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BAD1FFF-8B97-4CD1-85E7-B7738EAD2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3248" y="5084524"/>
            <a:ext cx="2123743" cy="343061"/>
          </a:xfrm>
        </p:spPr>
        <p:txBody>
          <a:bodyPr/>
          <a:lstStyle/>
          <a:p>
            <a:r>
              <a:rPr lang="en-US" dirty="0"/>
              <a:t>PAUL OKAFOR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0C8C8C1-99D8-4034-A628-DECEB703BA1D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692980" y="5099206"/>
            <a:ext cx="2135755" cy="343061"/>
          </a:xfrm>
        </p:spPr>
        <p:txBody>
          <a:bodyPr/>
          <a:lstStyle/>
          <a:p>
            <a:r>
              <a:rPr lang="en-US" dirty="0"/>
              <a:t>FEMI ADENIRAN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08CA58D6-00FD-4D81-A0F6-215C4D558912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183644" y="5099206"/>
            <a:ext cx="2123743" cy="343061"/>
          </a:xfrm>
        </p:spPr>
        <p:txBody>
          <a:bodyPr/>
          <a:lstStyle/>
          <a:p>
            <a:r>
              <a:rPr lang="en-US" dirty="0"/>
              <a:t>FLORA BERGGREN​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60D37431-6A3A-47F6-A367-B5ADCF66AE37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8603525" y="5084524"/>
            <a:ext cx="2123742" cy="343061"/>
          </a:xfrm>
        </p:spPr>
        <p:txBody>
          <a:bodyPr/>
          <a:lstStyle/>
          <a:p>
            <a:r>
              <a:rPr lang="en-US" dirty="0"/>
              <a:t>RAJESH SANTOSHI​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B76FA389-A54D-4E4B-81DA-DBA175D78FEC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1487181" y="5464114"/>
            <a:ext cx="1845510" cy="343061"/>
          </a:xfrm>
        </p:spPr>
        <p:txBody>
          <a:bodyPr/>
          <a:lstStyle/>
          <a:p>
            <a:r>
              <a:rPr lang="en-US" dirty="0"/>
              <a:t>Chief Executive Officer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65786675-BFC6-4743-BFD3-D64691F771D8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3836913" y="5478796"/>
            <a:ext cx="1957362" cy="343061"/>
          </a:xfrm>
        </p:spPr>
        <p:txBody>
          <a:bodyPr/>
          <a:lstStyle/>
          <a:p>
            <a:r>
              <a:rPr lang="en-US" dirty="0"/>
              <a:t>Chief Technology Officer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97062F49-F468-4EA6-B6BF-94BFF89FDCB7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327577" y="5478796"/>
            <a:ext cx="1845511" cy="343061"/>
          </a:xfrm>
        </p:spPr>
        <p:txBody>
          <a:bodyPr/>
          <a:lstStyle/>
          <a:p>
            <a:r>
              <a:rPr lang="en-US" dirty="0"/>
              <a:t>Chief Operations Officer</a:t>
            </a:r>
          </a:p>
          <a:p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59D9F00A-8CF0-41E8-9BB6-3B8ECDA55D49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747458" y="5464114"/>
            <a:ext cx="1845510" cy="343061"/>
          </a:xfrm>
        </p:spPr>
        <p:txBody>
          <a:bodyPr/>
          <a:lstStyle/>
          <a:p>
            <a:r>
              <a:rPr lang="en-US" dirty="0"/>
              <a:t>VP Marketing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F9CC1F-102C-49CC-B646-8E6826368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808A03-6EC3-48BE-9D18-5A746D092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868410-BE8A-4C98-9C72-20D0A2A6A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" name="object 10">
            <a:extLst>
              <a:ext uri="{FF2B5EF4-FFF2-40B4-BE49-F238E27FC236}">
                <a16:creationId xmlns:a16="http://schemas.microsoft.com/office/drawing/2014/main" id="{763602DF-19C3-DE6C-71C0-7BD669331587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27902" y="409019"/>
            <a:ext cx="1904789" cy="1428592"/>
          </a:xfrm>
          <a:prstGeom prst="rect">
            <a:avLst/>
          </a:prstGeom>
        </p:spPr>
      </p:pic>
      <p:pic>
        <p:nvPicPr>
          <p:cNvPr id="1028" name="Picture 4" descr="University of Oklahoma | Partner Portal">
            <a:extLst>
              <a:ext uri="{FF2B5EF4-FFF2-40B4-BE49-F238E27FC236}">
                <a16:creationId xmlns:a16="http://schemas.microsoft.com/office/drawing/2014/main" id="{113468B2-74D8-3E6B-8875-20D260501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9854" y="6140525"/>
            <a:ext cx="1718946" cy="557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Placeholder 11" descr="A person smiling at camera&#10;&#10;AI-generated content may be incorrect.">
            <a:extLst>
              <a:ext uri="{FF2B5EF4-FFF2-40B4-BE49-F238E27FC236}">
                <a16:creationId xmlns:a16="http://schemas.microsoft.com/office/drawing/2014/main" id="{31D722C2-BD21-C677-B7D9-86BCFC697CC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7"/>
          <a:srcRect t="11052" b="11052"/>
          <a:stretch>
            <a:fillRect/>
          </a:stretch>
        </p:blipFill>
        <p:spPr/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FD1F383E-0A27-CD30-23AD-D210CF91214D}"/>
              </a:ext>
            </a:extLst>
          </p:cNvPr>
          <p:cNvSpPr txBox="1"/>
          <p:nvPr/>
        </p:nvSpPr>
        <p:spPr>
          <a:xfrm>
            <a:off x="9177237" y="271672"/>
            <a:ext cx="2844030" cy="285549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7697">
              <a:spcBef>
                <a:spcPts val="67"/>
              </a:spcBef>
              <a:tabLst>
                <a:tab pos="1427496" algn="l"/>
                <a:tab pos="1566435" algn="l"/>
              </a:tabLst>
            </a:pPr>
            <a:r>
              <a:rPr lang="en-US" spc="-6" dirty="0">
                <a:solidFill>
                  <a:srgbClr val="535353"/>
                </a:solidFill>
                <a:latin typeface="Tahoma"/>
                <a:cs typeface="Tahoma"/>
              </a:rPr>
              <a:t>https://www.veriochi</a:t>
            </a:r>
            <a:r>
              <a:rPr spc="-6" dirty="0">
                <a:solidFill>
                  <a:srgbClr val="535353"/>
                </a:solidFill>
                <a:latin typeface="Tahoma"/>
                <a:cs typeface="Tahoma"/>
              </a:rPr>
              <a:t>.</a:t>
            </a:r>
            <a:r>
              <a:rPr lang="en-US" spc="-6" dirty="0">
                <a:solidFill>
                  <a:srgbClr val="535353"/>
                </a:solidFill>
                <a:latin typeface="Tahoma"/>
                <a:cs typeface="Tahoma"/>
              </a:rPr>
              <a:t>com</a:t>
            </a:r>
            <a:r>
              <a:rPr dirty="0">
                <a:solidFill>
                  <a:srgbClr val="535353"/>
                </a:solidFill>
                <a:latin typeface="Tahoma"/>
                <a:cs typeface="Tahoma"/>
              </a:rPr>
              <a:t>	</a:t>
            </a:r>
            <a:endParaRPr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477453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/>
          <a:p>
            <a:r>
              <a:rPr lang="en-US" dirty="0"/>
              <a:t>Paul Okafor​</a:t>
            </a:r>
          </a:p>
          <a:p>
            <a:r>
              <a:rPr lang="en-US" dirty="0"/>
              <a:t>405-320-7784</a:t>
            </a:r>
          </a:p>
          <a:p>
            <a:r>
              <a:rPr lang="en-US" dirty="0"/>
              <a:t>acobapaul@gmail.com</a:t>
            </a:r>
          </a:p>
          <a:p>
            <a:r>
              <a:rPr lang="en-US" dirty="0"/>
              <a:t>www.veriochi.com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A7980-C870-4C9A-84FA-4120D8AF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/>
          <a:p>
            <a:r>
              <a:rPr lang="en-US" dirty="0"/>
              <a:t>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ADE42-1A3F-40C8-A071-E57644F3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A93827A2-4701-10C2-FB05-26C7B0077DBF}"/>
              </a:ext>
            </a:extLst>
          </p:cNvPr>
          <p:cNvSpPr txBox="1"/>
          <p:nvPr/>
        </p:nvSpPr>
        <p:spPr>
          <a:xfrm>
            <a:off x="9177237" y="271672"/>
            <a:ext cx="2844030" cy="285549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7697">
              <a:spcBef>
                <a:spcPts val="67"/>
              </a:spcBef>
              <a:tabLst>
                <a:tab pos="1427496" algn="l"/>
                <a:tab pos="1566435" algn="l"/>
              </a:tabLst>
            </a:pPr>
            <a:r>
              <a:rPr lang="en-US" spc="-6" dirty="0">
                <a:solidFill>
                  <a:srgbClr val="535353"/>
                </a:solidFill>
                <a:latin typeface="Tahoma"/>
                <a:cs typeface="Tahoma"/>
              </a:rPr>
              <a:t>https://www.veriochi</a:t>
            </a:r>
            <a:r>
              <a:rPr spc="-6" dirty="0">
                <a:solidFill>
                  <a:srgbClr val="535353"/>
                </a:solidFill>
                <a:latin typeface="Tahoma"/>
                <a:cs typeface="Tahoma"/>
              </a:rPr>
              <a:t>.</a:t>
            </a:r>
            <a:r>
              <a:rPr lang="en-US" spc="-6" dirty="0">
                <a:solidFill>
                  <a:srgbClr val="535353"/>
                </a:solidFill>
                <a:latin typeface="Tahoma"/>
                <a:cs typeface="Tahoma"/>
              </a:rPr>
              <a:t>com</a:t>
            </a:r>
            <a:r>
              <a:rPr dirty="0">
                <a:solidFill>
                  <a:srgbClr val="535353"/>
                </a:solidFill>
                <a:latin typeface="Tahoma"/>
                <a:cs typeface="Tahoma"/>
              </a:rPr>
              <a:t>	</a:t>
            </a:r>
            <a:endParaRPr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6E94D4DF-24E6-4758-8701-2C20AC2BF2DD}" vid="{D9C778EE-A573-4D68-89BA-A3DB5F810EA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3343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1845F9-C5F4-4AA5-BA9E-EC2182E9148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C8B084D-D430-4822-B3CB-DEADB2E7A5F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5BFCE94-6EC9-4D8E-89B6-C22DE7AD70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993</TotalTime>
  <Words>505</Words>
  <Application>Microsoft Office PowerPoint</Application>
  <PresentationFormat>Widescreen</PresentationFormat>
  <Paragraphs>158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Arial</vt:lpstr>
      <vt:lpstr>Arial MT</vt:lpstr>
      <vt:lpstr>Bradley Hand ITC</vt:lpstr>
      <vt:lpstr>Calibri</vt:lpstr>
      <vt:lpstr>Lucida Sans Unicode</vt:lpstr>
      <vt:lpstr>Palatino Linotype</vt:lpstr>
      <vt:lpstr>Tahoma</vt:lpstr>
      <vt:lpstr>Tenorite</vt:lpstr>
      <vt:lpstr>Verdana</vt:lpstr>
      <vt:lpstr>Monoline</vt:lpstr>
      <vt:lpstr>Office Theme</vt:lpstr>
      <vt:lpstr>PowerPoint Presentation</vt:lpstr>
      <vt:lpstr>PowerPoint Presentation</vt:lpstr>
      <vt:lpstr>Search like never before.</vt:lpstr>
      <vt:lpstr>No more software as a SERVICE</vt:lpstr>
      <vt:lpstr>PROBLEM</vt:lpstr>
      <vt:lpstr>PowerPoint Presentation</vt:lpstr>
      <vt:lpstr>PRODUCT OVERVIEW</vt:lpstr>
      <vt:lpstr>MARKET OVERVIEW</vt:lpstr>
      <vt:lpstr>Market projection and competition</vt:lpstr>
      <vt:lpstr>Our competition  </vt:lpstr>
      <vt:lpstr>FUNDING REQUEST</vt:lpstr>
      <vt:lpstr>ONE-YEAR ACTION PLAN</vt:lpstr>
      <vt:lpstr>MEET THE TEAM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Okafor, Paul O.</cp:lastModifiedBy>
  <cp:revision>41</cp:revision>
  <dcterms:created xsi:type="dcterms:W3CDTF">2023-07-24T01:11:48Z</dcterms:created>
  <dcterms:modified xsi:type="dcterms:W3CDTF">2025-12-01T13:43:57Z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